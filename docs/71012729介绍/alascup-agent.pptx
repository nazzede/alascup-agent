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单击以移动幻灯片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C965E7-7F9F-4AC1-9AF3-F925A1EBD1F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这一页先给结论：我们做的不是一个可以随意执行命令的聊天机器人，而是面向麒麟操作系统的安全智能运维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。系统已经形成三项硬证据：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个业务工具、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813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个自动化测试，以及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动态分类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P95 0.0412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毫秒。后面我会重点说明，它如何做到能执行，又不能失控。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项目对赛题五项要求都有可核对的工程落点。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感知由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、数据库和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eBPF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工具支撑；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插件化由多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发现与路由支撑；安全意图由输入门和动态分类支撑；最小权限由容器权限边界、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capability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白名单和执行前复核支撑；溯源则落到五类持久化证据，而不是只留一份运行日志。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核心架构是解耦的。前端负责对话、审批和证据展示，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web-server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负责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循环与安全决策，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ServerRegistry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统一发现和路由多个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 Server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tool-server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封装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、数据库、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eBPF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不绑定某个云厂商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，因此架构具备云平台接入能力，可以通过新增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 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扩展云资源查询与运维。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的工作方式不是一次性回答，而是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Think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Review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Observe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的闭环。每次执行前先做风险判定，写工具和可变工具进入完整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Review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；静态只读工具可以并行取证。工具结果通过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进入会话证据流，再回到下一轮推理，最终按六段式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RCA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输出根因和建议。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个业务工具由五部分组成：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个基础系统感知、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tool-server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运行态、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PostgreSQL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个受控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eBPF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工具。它们共享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schema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、安全元数据和路由规则。另有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bash_classify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execute_tool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三个内部工具，其中分类工具对服务端可见，但不会暴露给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安全不是依赖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 prompt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。执行前依次经过输入安全门、工具元数据、动态分类、规则决策、人工审批和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tool-server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二次校验。任一节点都可以拒绝请求。审计轨则贯穿整个过程，记录决定、审批、执行结果和错误，使一次高风险操作既可阻断，也可在刷新后完整复盘。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是最灵活也最危险的入口，所以项目按每次参数动态分类。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ls /tmp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可以判定为只读，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rm -rf /tmp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会进入审批，直接绕过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execute_tool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的调用会被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tool-server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拒绝。源码还显示分类伴生工具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true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，分类异常时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强制为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false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12,000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次本地样本的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P95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0.0412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毫秒。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这张工具证据卡把安全机制变成评审可直接看到的产品能力。摘要区展示读写属性、工具名、审批状态和耗时，展开后可以核对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 Server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、回滚属性、完整参数、结果和错误。状态通过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实时出现，刷新后从历史会话恢复；长结果只折叠预览，原始内容仍然可以完整复制。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质量证据不是一个孤立覆盖率数字。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web-server 394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tool-server 217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frontend 186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Mock E2E 16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个，共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813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个用例全部通过。两项安全组件基线也保持低开销：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InputSafetyGate P95 0.0056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毫秒，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分类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P95 0.0412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毫秒。这里的性能口径是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x86_64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本地组件测试，不包含网络和工具执行耗时。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最后收束为四点。可用，来自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个业务工具和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诊断；可控，来自动态分类、人工审批和六道执行前护栏；可信，来自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813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个测试、审计与历史恢复；可扩展，来自多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 Server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路由和云平台扩展位。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Alascup Agent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的目标，是让大模型运维从能调用工具，推进到可治理、可核验。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2CDA9D-ED49-4DF0-AD9C-6D74796936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CAA1EE-9AF8-4AD8-BDEB-E620E4742B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7EE8F5-F44E-4BFF-88A0-46EDFD64F9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032CEB-5F49-4671-9EB5-A2BCA0BC19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10D2B7-0495-46C0-9A4E-0349A82019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AB2148-6488-43F5-962B-8B4A8736A2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787AFA-931A-4E43-A89C-38D9A17145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51F14F-5C69-41FB-B621-36D5804A2C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B5E454-E9BB-44C7-877A-5FE1F5FD41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32FC38-153F-4EEE-817B-9063E9A31A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837B9F-4B95-49A0-A152-0401EFA15A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5"/>
          <p:cNvGrpSpPr/>
          <p:nvPr/>
        </p:nvGrpSpPr>
        <p:grpSpPr>
          <a:xfrm>
            <a:off x="360" y="0"/>
            <a:ext cx="12239640" cy="6857640"/>
            <a:chOff x="360" y="0"/>
            <a:chExt cx="12239640" cy="6857640"/>
          </a:xfrm>
        </p:grpSpPr>
        <p:sp>
          <p:nvSpPr>
            <p:cNvPr id="67" name="Rectangle 2"/>
            <p:cNvSpPr/>
            <p:nvPr/>
          </p:nvSpPr>
          <p:spPr>
            <a:xfrm>
              <a:off x="36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i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Freeform 3"/>
            <p:cNvSpPr/>
            <p:nvPr/>
          </p:nvSpPr>
          <p:spPr>
            <a:xfrm>
              <a:off x="4824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5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 4"/>
            <p:cNvSpPr/>
            <p:nvPr/>
          </p:nvSpPr>
          <p:spPr>
            <a:xfrm>
              <a:off x="295200" y="514440"/>
              <a:ext cx="11429640" cy="6095520"/>
            </a:xfrm>
            <a:custGeom>
              <a:avLst/>
              <a:gdLst>
                <a:gd name="textAreaLeft" fmla="*/ 0 w 11429640"/>
                <a:gd name="textAreaRight" fmla="*/ 11430000 w 11429640"/>
                <a:gd name="textAreaTop" fmla="*/ 0 h 6095520"/>
                <a:gd name="textAreaBottom" fmla="*/ 6095880 h 6095520"/>
              </a:gdLst>
              <a:ahLst/>
              <a:cxnLst/>
              <a:rect l="textAreaLeft" t="textAreaTop" r="textAreaRight" b="textAreaBottom"/>
              <a:pathLst>
                <a:path w="11430000" h="6096000">
                  <a:moveTo>
                    <a:pt x="0" y="0"/>
                  </a:moveTo>
                  <a:lnTo>
                    <a:pt x="1047750" y="0"/>
                  </a:lnTo>
                  <a:moveTo>
                    <a:pt x="0" y="0"/>
                  </a:moveTo>
                  <a:lnTo>
                    <a:pt x="0" y="495300"/>
                  </a:lnTo>
                  <a:moveTo>
                    <a:pt x="11430000" y="0"/>
                  </a:moveTo>
                  <a:lnTo>
                    <a:pt x="10382250" y="0"/>
                  </a:lnTo>
                  <a:moveTo>
                    <a:pt x="11430000" y="0"/>
                  </a:moveTo>
                  <a:lnTo>
                    <a:pt x="11430000" y="495300"/>
                  </a:lnTo>
                  <a:moveTo>
                    <a:pt x="0" y="6096000"/>
                  </a:moveTo>
                  <a:lnTo>
                    <a:pt x="1047750" y="6096000"/>
                  </a:lnTo>
                  <a:moveTo>
                    <a:pt x="0" y="6096000"/>
                  </a:moveTo>
                  <a:lnTo>
                    <a:pt x="0" y="5600700"/>
                  </a:lnTo>
                  <a:moveTo>
                    <a:pt x="11430000" y="6096000"/>
                  </a:moveTo>
                  <a:lnTo>
                    <a:pt x="10382250" y="6096000"/>
                  </a:lnTo>
                  <a:moveTo>
                    <a:pt x="11430000" y="6096000"/>
                  </a:moveTo>
                  <a:lnTo>
                    <a:pt x="11430000" y="560070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" name="Group 11"/>
          <p:cNvGrpSpPr/>
          <p:nvPr/>
        </p:nvGrpSpPr>
        <p:grpSpPr>
          <a:xfrm>
            <a:off x="533520" y="559080"/>
            <a:ext cx="7309080" cy="3265560"/>
            <a:chOff x="533520" y="559080"/>
            <a:chExt cx="7309080" cy="3265560"/>
          </a:xfrm>
        </p:grpSpPr>
        <p:sp>
          <p:nvSpPr>
            <p:cNvPr id="71" name="TextBox 6"/>
            <p:cNvSpPr/>
            <p:nvPr/>
          </p:nvSpPr>
          <p:spPr>
            <a:xfrm>
              <a:off x="545760" y="559080"/>
              <a:ext cx="317556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ALASCUP AGENT / KYLIN OS / 2026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TextBox 7"/>
            <p:cNvSpPr/>
            <p:nvPr/>
          </p:nvSpPr>
          <p:spPr>
            <a:xfrm>
              <a:off x="533520" y="1001880"/>
              <a:ext cx="5629320" cy="100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66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让 </a:t>
              </a:r>
              <a:r>
                <a:rPr lang="en-US" sz="66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Agent</a:t>
              </a:r>
              <a:r>
                <a:rPr lang="zh-CN" sz="66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执行</a:t>
              </a:r>
              <a:endPara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TextBox 8"/>
            <p:cNvSpPr/>
            <p:nvPr/>
          </p:nvSpPr>
          <p:spPr>
            <a:xfrm>
              <a:off x="533520" y="1992600"/>
              <a:ext cx="4191840" cy="1006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6600" b="1" u="none" strike="noStrike">
                  <a:solidFill>
                    <a:srgbClr val="7cb7ff"/>
                  </a:solidFill>
                  <a:effectLst/>
                  <a:uFillTx/>
                  <a:latin typeface="Segoe UI"/>
                  <a:ea typeface="Microsoft YaHei"/>
                </a:rPr>
                <a:t>又不能失控</a:t>
              </a:r>
              <a:endPara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9"/>
            <p:cNvSpPr/>
            <p:nvPr/>
          </p:nvSpPr>
          <p:spPr>
            <a:xfrm>
              <a:off x="578520" y="2922120"/>
              <a:ext cx="726408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面向麒麟操作系统的安全智能运维 </a:t>
              </a:r>
              <a:r>
                <a:rPr lang="en-US" sz="24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Agent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10"/>
            <p:cNvSpPr/>
            <p:nvPr/>
          </p:nvSpPr>
          <p:spPr>
            <a:xfrm>
              <a:off x="581400" y="3472920"/>
              <a:ext cx="61538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MCP </a:t>
              </a:r>
              <a:r>
                <a:rPr lang="zh-CN" sz="180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工具编排 </a:t>
              </a:r>
              <a:r>
                <a:rPr lang="en-US" sz="180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80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动态安全分类 </a:t>
              </a:r>
              <a:r>
                <a:rPr lang="en-US" sz="180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80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全链路审计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18"/>
          <p:cNvGrpSpPr/>
          <p:nvPr/>
        </p:nvGrpSpPr>
        <p:grpSpPr>
          <a:xfrm>
            <a:off x="571680" y="4244400"/>
            <a:ext cx="4914720" cy="1150920"/>
            <a:chOff x="571680" y="4244400"/>
            <a:chExt cx="4914720" cy="1150920"/>
          </a:xfrm>
        </p:grpSpPr>
        <p:sp>
          <p:nvSpPr>
            <p:cNvPr id="77" name="Freeform 12"/>
            <p:cNvSpPr/>
            <p:nvPr/>
          </p:nvSpPr>
          <p:spPr>
            <a:xfrm>
              <a:off x="571680" y="4248000"/>
              <a:ext cx="4914720" cy="9000"/>
            </a:xfrm>
            <a:custGeom>
              <a:avLst/>
              <a:gdLst>
                <a:gd name="textAreaLeft" fmla="*/ 0 w 4914720"/>
                <a:gd name="textAreaRight" fmla="*/ 4915080 w 49147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13"/>
            <p:cNvSpPr/>
            <p:nvPr/>
          </p:nvSpPr>
          <p:spPr>
            <a:xfrm>
              <a:off x="571680" y="4244400"/>
              <a:ext cx="95292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4800" b="1" u="none" strike="noStrike">
                  <a:solidFill>
                    <a:srgbClr val="ffb84d"/>
                  </a:solidFill>
                  <a:effectLst/>
                  <a:uFillTx/>
                  <a:latin typeface="Segoe UI"/>
                  <a:ea typeface="Segoe UI"/>
                </a:rPr>
                <a:t>18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14"/>
            <p:cNvSpPr/>
            <p:nvPr/>
          </p:nvSpPr>
          <p:spPr>
            <a:xfrm>
              <a:off x="1362600" y="4463280"/>
              <a:ext cx="15037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个业务工具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15"/>
            <p:cNvSpPr/>
            <p:nvPr/>
          </p:nvSpPr>
          <p:spPr>
            <a:xfrm>
              <a:off x="2533680" y="4244400"/>
              <a:ext cx="141084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TextBox 16"/>
            <p:cNvSpPr/>
            <p:nvPr/>
          </p:nvSpPr>
          <p:spPr>
            <a:xfrm>
              <a:off x="3724560" y="4463280"/>
              <a:ext cx="2293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Box 17"/>
            <p:cNvSpPr/>
            <p:nvPr/>
          </p:nvSpPr>
          <p:spPr>
            <a:xfrm>
              <a:off x="581400" y="5120640"/>
              <a:ext cx="156420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bf00"/>
                  </a:solidFill>
                  <a:effectLst/>
                  <a:uFillTx/>
                  <a:latin typeface="Consolas"/>
                  <a:ea typeface="Consolas"/>
                </a:rPr>
                <a:t>+</a:t>
              </a:r>
              <a:r>
                <a:rPr lang="zh-CN" sz="1800" b="0" u="none" strike="noStrike">
                  <a:solidFill>
                    <a:srgbClr val="ffbf00"/>
                  </a:solidFill>
                  <a:effectLst/>
                  <a:uFillTx/>
                  <a:latin typeface="Consolas"/>
                  <a:ea typeface="Consolas"/>
                </a:rPr>
                <a:t>隐性动态防护</a:t>
              </a:r>
              <a:endParaRPr lang="en-US" sz="1800" b="0" u="none" strike="noStrike">
                <a:solidFill>
                  <a:srgbClr val="ffbf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3" name="Group 31"/>
          <p:cNvGrpSpPr/>
          <p:nvPr/>
        </p:nvGrpSpPr>
        <p:grpSpPr>
          <a:xfrm>
            <a:off x="6334200" y="1092600"/>
            <a:ext cx="5162040" cy="5079240"/>
            <a:chOff x="6334200" y="1092600"/>
            <a:chExt cx="5162040" cy="5079240"/>
          </a:xfrm>
        </p:grpSpPr>
        <p:sp>
          <p:nvSpPr>
            <p:cNvPr id="84" name="Rectangle 19"/>
            <p:cNvSpPr/>
            <p:nvPr/>
          </p:nvSpPr>
          <p:spPr>
            <a:xfrm>
              <a:off x="6334200" y="1467000"/>
              <a:ext cx="5162040" cy="4704840"/>
            </a:xfrm>
            <a:prstGeom prst="roundRect">
              <a:avLst>
                <a:gd name="adj" fmla="val 1215"/>
              </a:avLst>
            </a:prstGeom>
            <a:solidFill>
              <a:srgbClr val="132238">
                <a:alpha val="62000"/>
              </a:srgbClr>
            </a:solidFill>
            <a:ln w="19050">
              <a:solidFill>
                <a:srgbClr val="7cb7ff"/>
              </a:solidFill>
              <a:custDash>
                <a:ds d="500000" sp="350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TextBox 20"/>
            <p:cNvSpPr/>
            <p:nvPr/>
          </p:nvSpPr>
          <p:spPr>
            <a:xfrm>
              <a:off x="6946560" y="1092600"/>
              <a:ext cx="37990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CONTROLLED EXECUTION BOUNDARY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Ellipse 21"/>
            <p:cNvSpPr/>
            <p:nvPr/>
          </p:nvSpPr>
          <p:spPr>
            <a:xfrm>
              <a:off x="7924680" y="2381400"/>
              <a:ext cx="1980720" cy="1980720"/>
            </a:xfrm>
            <a:prstGeom prst="ellipse">
              <a:avLst/>
            </a:prstGeom>
            <a:solidFill>
              <a:srgbClr val="18253a"/>
            </a:solidFill>
            <a:ln w="28575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" name="Group 28"/>
            <p:cNvGrpSpPr/>
            <p:nvPr/>
          </p:nvGrpSpPr>
          <p:grpSpPr>
            <a:xfrm>
              <a:off x="8658360" y="2809800"/>
              <a:ext cx="514080" cy="514080"/>
              <a:chOff x="8658360" y="2809800"/>
              <a:chExt cx="514080" cy="514080"/>
            </a:xfrm>
          </p:grpSpPr>
          <p:sp>
            <p:nvSpPr>
              <p:cNvPr id="88" name="Freeform 22"/>
              <p:cNvSpPr/>
              <p:nvPr/>
            </p:nvSpPr>
            <p:spPr>
              <a:xfrm>
                <a:off x="8915400" y="3095640"/>
                <a:ext cx="199800" cy="22824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228240"/>
                  <a:gd name="textAreaBottom" fmla="*/ 228600 h 228240"/>
                </a:gdLst>
                <a:ahLst/>
                <a:cxnLst/>
                <a:rect l="textAreaLeft" t="textAreaTop" r="textAreaRight" b="textAreaBottom"/>
                <a:pathLst>
                  <a:path w="200025" h="228600">
                    <a:moveTo>
                      <a:pt x="100012" y="0"/>
                    </a:moveTo>
                    <a:cubicBezTo>
                      <a:pt x="44777" y="0"/>
                      <a:pt x="0" y="44777"/>
                      <a:pt x="0" y="100012"/>
                    </a:cubicBezTo>
                    <a:lnTo>
                      <a:pt x="0" y="128588"/>
                    </a:lnTo>
                    <a:cubicBezTo>
                      <a:pt x="0" y="183823"/>
                      <a:pt x="44777" y="228600"/>
                      <a:pt x="100012" y="228600"/>
                    </a:cubicBezTo>
                    <a:cubicBezTo>
                      <a:pt x="155248" y="228600"/>
                      <a:pt x="200025" y="183823"/>
                      <a:pt x="200025" y="128588"/>
                    </a:cubicBezTo>
                    <a:lnTo>
                      <a:pt x="200025" y="77153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Freeform 23"/>
              <p:cNvSpPr/>
              <p:nvPr/>
            </p:nvSpPr>
            <p:spPr>
              <a:xfrm>
                <a:off x="8715240" y="3095640"/>
                <a:ext cx="199800" cy="22824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228240"/>
                  <a:gd name="textAreaBottom" fmla="*/ 228600 h 228240"/>
                </a:gdLst>
                <a:ahLst/>
                <a:cxnLst/>
                <a:rect l="textAreaLeft" t="textAreaTop" r="textAreaRight" b="textAreaBottom"/>
                <a:pathLst>
                  <a:path w="200025" h="228600">
                    <a:moveTo>
                      <a:pt x="100012" y="0"/>
                    </a:moveTo>
                    <a:cubicBezTo>
                      <a:pt x="155248" y="0"/>
                      <a:pt x="200025" y="44777"/>
                      <a:pt x="200025" y="100012"/>
                    </a:cubicBezTo>
                    <a:lnTo>
                      <a:pt x="200025" y="128588"/>
                    </a:lnTo>
                    <a:cubicBezTo>
                      <a:pt x="200025" y="183823"/>
                      <a:pt x="155248" y="228600"/>
                      <a:pt x="100012" y="228600"/>
                    </a:cubicBezTo>
                    <a:cubicBezTo>
                      <a:pt x="44777" y="228600"/>
                      <a:pt x="0" y="183823"/>
                      <a:pt x="0" y="128588"/>
                    </a:cubicBezTo>
                    <a:lnTo>
                      <a:pt x="0" y="77153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Freeform 24"/>
              <p:cNvSpPr/>
              <p:nvPr/>
            </p:nvSpPr>
            <p:spPr>
              <a:xfrm>
                <a:off x="9058320" y="2981160"/>
                <a:ext cx="114120" cy="19980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99800"/>
                  <a:gd name="textAreaBottom" fmla="*/ 200160 h 199800"/>
                </a:gdLst>
                <a:ahLst/>
                <a:cxnLst/>
                <a:rect l="textAreaLeft" t="textAreaTop" r="textAreaRight" b="textAreaBottom"/>
                <a:pathLst>
                  <a:path w="114300" h="200025">
                    <a:moveTo>
                      <a:pt x="14288" y="200025"/>
                    </a:moveTo>
                    <a:cubicBezTo>
                      <a:pt x="69523" y="200025"/>
                      <a:pt x="114300" y="155248"/>
                      <a:pt x="114300" y="100012"/>
                    </a:cubicBezTo>
                    <a:cubicBezTo>
                      <a:pt x="114300" y="44777"/>
                      <a:pt x="69523" y="0"/>
                      <a:pt x="1428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Freeform 25"/>
              <p:cNvSpPr/>
              <p:nvPr/>
            </p:nvSpPr>
            <p:spPr>
              <a:xfrm>
                <a:off x="8915400" y="2809800"/>
                <a:ext cx="199800" cy="17964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179640"/>
                  <a:gd name="textAreaBottom" fmla="*/ 180000 h 179640"/>
                </a:gdLst>
                <a:ahLst/>
                <a:cxnLst/>
                <a:rect l="textAreaLeft" t="textAreaTop" r="textAreaRight" b="textAreaBottom"/>
                <a:pathLst>
                  <a:path w="200025" h="180022">
                    <a:moveTo>
                      <a:pt x="200025" y="180022"/>
                    </a:moveTo>
                    <a:lnTo>
                      <a:pt x="200025" y="100012"/>
                    </a:ln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Freeform 26"/>
              <p:cNvSpPr/>
              <p:nvPr/>
            </p:nvSpPr>
            <p:spPr>
              <a:xfrm>
                <a:off x="8658360" y="2981160"/>
                <a:ext cx="114120" cy="19980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99800"/>
                  <a:gd name="textAreaBottom" fmla="*/ 200160 h 199800"/>
                </a:gdLst>
                <a:ahLst/>
                <a:cxnLst/>
                <a:rect l="textAreaLeft" t="textAreaTop" r="textAreaRight" b="textAreaBottom"/>
                <a:pathLst>
                  <a:path w="114300" h="200025">
                    <a:moveTo>
                      <a:pt x="100012" y="200025"/>
                    </a:move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Freeform 27"/>
              <p:cNvSpPr/>
              <p:nvPr/>
            </p:nvSpPr>
            <p:spPr>
              <a:xfrm>
                <a:off x="8715240" y="2809800"/>
                <a:ext cx="199800" cy="38556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385560"/>
                  <a:gd name="textAreaBottom" fmla="*/ 385920 h 385560"/>
                </a:gdLst>
                <a:ahLst/>
                <a:cxnLst/>
                <a:rect l="textAreaLeft" t="textAreaTop" r="textAreaRight" b="textAreaBottom"/>
                <a:pathLst>
                  <a:path w="200025" h="385762">
                    <a:moveTo>
                      <a:pt x="0" y="180022"/>
                    </a:moveTo>
                    <a:lnTo>
                      <a:pt x="0" y="100012"/>
                    </a:ln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lnTo>
                      <a:pt x="200025" y="385762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" name="TextBox 29"/>
            <p:cNvSpPr/>
            <p:nvPr/>
          </p:nvSpPr>
          <p:spPr>
            <a:xfrm>
              <a:off x="8003520" y="3558600"/>
              <a:ext cx="18230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AGENT CORE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30"/>
            <p:cNvSpPr/>
            <p:nvPr/>
          </p:nvSpPr>
          <p:spPr>
            <a:xfrm>
              <a:off x="8247600" y="3863520"/>
              <a:ext cx="1334520" cy="22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5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规划与证据收敛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6" name="Group 61"/>
          <p:cNvGrpSpPr/>
          <p:nvPr/>
        </p:nvGrpSpPr>
        <p:grpSpPr>
          <a:xfrm>
            <a:off x="6553080" y="1676520"/>
            <a:ext cx="5095080" cy="3666600"/>
            <a:chOff x="6553080" y="1676520"/>
            <a:chExt cx="5095080" cy="3666600"/>
          </a:xfrm>
        </p:grpSpPr>
        <p:sp>
          <p:nvSpPr>
            <p:cNvPr id="97" name="Freeform 32"/>
            <p:cNvSpPr/>
            <p:nvPr/>
          </p:nvSpPr>
          <p:spPr>
            <a:xfrm>
              <a:off x="7201080" y="2152800"/>
              <a:ext cx="3428640" cy="2533320"/>
            </a:xfrm>
            <a:custGeom>
              <a:avLst/>
              <a:gdLst>
                <a:gd name="textAreaLeft" fmla="*/ 0 w 3428640"/>
                <a:gd name="textAreaRight" fmla="*/ 3429000 w 3428640"/>
                <a:gd name="textAreaTop" fmla="*/ 0 h 2533320"/>
                <a:gd name="textAreaBottom" fmla="*/ 2533680 h 2533320"/>
              </a:gdLst>
              <a:ahLst/>
              <a:cxnLst/>
              <a:rect l="textAreaLeft" t="textAreaTop" r="textAreaRight" b="textAreaBottom"/>
              <a:pathLst>
                <a:path w="3429000" h="2533650">
                  <a:moveTo>
                    <a:pt x="800100" y="571500"/>
                  </a:moveTo>
                  <a:lnTo>
                    <a:pt x="0" y="0"/>
                  </a:lnTo>
                  <a:moveTo>
                    <a:pt x="2628900" y="571500"/>
                  </a:moveTo>
                  <a:lnTo>
                    <a:pt x="3429000" y="0"/>
                  </a:lnTo>
                  <a:moveTo>
                    <a:pt x="800100" y="1866900"/>
                  </a:moveTo>
                  <a:lnTo>
                    <a:pt x="0" y="2533650"/>
                  </a:lnTo>
                  <a:moveTo>
                    <a:pt x="2628900" y="1866900"/>
                  </a:moveTo>
                  <a:lnTo>
                    <a:pt x="3429000" y="2533650"/>
                  </a:lnTo>
                </a:path>
              </a:pathLst>
            </a:custGeom>
            <a:noFill/>
            <a:ln w="28575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Rectangle 33"/>
            <p:cNvSpPr/>
            <p:nvPr/>
          </p:nvSpPr>
          <p:spPr>
            <a:xfrm>
              <a:off x="6553080" y="1676520"/>
              <a:ext cx="1657080" cy="875880"/>
            </a:xfrm>
            <a:prstGeom prst="roundRect">
              <a:avLst>
                <a:gd name="adj" fmla="val 4348"/>
              </a:avLst>
            </a:prstGeom>
            <a:solidFill>
              <a:srgbClr val="10182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" name="Group 36"/>
            <p:cNvGrpSpPr/>
            <p:nvPr/>
          </p:nvGrpSpPr>
          <p:grpSpPr>
            <a:xfrm>
              <a:off x="6765120" y="1938240"/>
              <a:ext cx="242640" cy="161640"/>
              <a:chOff x="6765120" y="1938240"/>
              <a:chExt cx="242640" cy="161640"/>
            </a:xfrm>
          </p:grpSpPr>
          <p:sp>
            <p:nvSpPr>
              <p:cNvPr id="100" name="Freeform 34"/>
              <p:cNvSpPr/>
              <p:nvPr/>
            </p:nvSpPr>
            <p:spPr>
              <a:xfrm>
                <a:off x="6859440" y="1992240"/>
                <a:ext cx="53640" cy="53640"/>
              </a:xfrm>
              <a:custGeom>
                <a:avLst/>
                <a:gdLst>
                  <a:gd name="textAreaLeft" fmla="*/ 0 w 53640"/>
                  <a:gd name="textAreaRight" fmla="*/ 54000 w 5364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eform 35"/>
              <p:cNvSpPr/>
              <p:nvPr/>
            </p:nvSpPr>
            <p:spPr>
              <a:xfrm>
                <a:off x="6765120" y="1938240"/>
                <a:ext cx="242640" cy="161640"/>
              </a:xfrm>
              <a:custGeom>
                <a:avLst/>
                <a:gdLst>
                  <a:gd name="textAreaLeft" fmla="*/ 0 w 242640"/>
                  <a:gd name="textAreaRight" fmla="*/ 243000 w 242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242888" h="161925">
                    <a:moveTo>
                      <a:pt x="242888" y="80963"/>
                    </a:moveTo>
                    <a:cubicBezTo>
                      <a:pt x="210503" y="134938"/>
                      <a:pt x="170022" y="161925"/>
                      <a:pt x="121444" y="161925"/>
                    </a:cubicBezTo>
                    <a:cubicBezTo>
                      <a:pt x="72866" y="161925"/>
                      <a:pt x="32385" y="134938"/>
                      <a:pt x="0" y="80963"/>
                    </a:cubicBezTo>
                    <a:cubicBezTo>
                      <a:pt x="32385" y="26988"/>
                      <a:pt x="72866" y="0"/>
                      <a:pt x="121444" y="0"/>
                    </a:cubicBezTo>
                    <a:cubicBezTo>
                      <a:pt x="170022" y="0"/>
                      <a:pt x="210503" y="26988"/>
                      <a:pt x="242888" y="80963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" name="TextBox 37"/>
            <p:cNvSpPr/>
            <p:nvPr/>
          </p:nvSpPr>
          <p:spPr>
            <a:xfrm>
              <a:off x="7153560" y="188208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感知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extBox 38"/>
            <p:cNvSpPr/>
            <p:nvPr/>
          </p:nvSpPr>
          <p:spPr>
            <a:xfrm>
              <a:off x="6717960" y="2235600"/>
              <a:ext cx="1634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Consolas"/>
                  <a:ea typeface="Consolas"/>
                </a:rPr>
                <a:t>OS / DB / eBPF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39"/>
            <p:cNvSpPr/>
            <p:nvPr/>
          </p:nvSpPr>
          <p:spPr>
            <a:xfrm>
              <a:off x="9620280" y="1676520"/>
              <a:ext cx="1657080" cy="875880"/>
            </a:xfrm>
            <a:prstGeom prst="roundRect">
              <a:avLst>
                <a:gd name="adj" fmla="val 4348"/>
              </a:avLst>
            </a:prstGeom>
            <a:solidFill>
              <a:srgbClr val="10182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" name="Group 44"/>
            <p:cNvGrpSpPr/>
            <p:nvPr/>
          </p:nvGrpSpPr>
          <p:grpSpPr>
            <a:xfrm>
              <a:off x="9859320" y="1897920"/>
              <a:ext cx="215280" cy="242640"/>
              <a:chOff x="9859320" y="1897920"/>
              <a:chExt cx="215280" cy="242640"/>
            </a:xfrm>
          </p:grpSpPr>
          <p:sp>
            <p:nvSpPr>
              <p:cNvPr id="106" name="Freeform 40"/>
              <p:cNvSpPr/>
              <p:nvPr/>
            </p:nvSpPr>
            <p:spPr>
              <a:xfrm>
                <a:off x="9859320" y="2005920"/>
                <a:ext cx="188640" cy="13464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134640"/>
                  <a:gd name="textAreaBottom" fmla="*/ 135000 h 134640"/>
                </a:gdLst>
                <a:ahLst/>
                <a:cxnLst/>
                <a:rect l="textAreaLeft" t="textAreaTop" r="textAreaRight" b="textAreaBottom"/>
                <a:pathLst>
                  <a:path w="188913" h="134938">
                    <a:moveTo>
                      <a:pt x="87710" y="134938"/>
                    </a:moveTo>
                    <a:lnTo>
                      <a:pt x="26988" y="134938"/>
                    </a:lnTo>
                    <a:cubicBezTo>
                      <a:pt x="12083" y="134938"/>
                      <a:pt x="0" y="122855"/>
                      <a:pt x="0" y="107950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61925" y="0"/>
                    </a:lnTo>
                    <a:cubicBezTo>
                      <a:pt x="176830" y="0"/>
                      <a:pt x="188913" y="12083"/>
                      <a:pt x="188913" y="26988"/>
                    </a:cubicBezTo>
                    <a:lnTo>
                      <a:pt x="188913" y="33734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Freeform 41"/>
              <p:cNvSpPr/>
              <p:nvPr/>
            </p:nvSpPr>
            <p:spPr>
              <a:xfrm>
                <a:off x="9939960" y="2059920"/>
                <a:ext cx="26640" cy="26640"/>
              </a:xfrm>
              <a:custGeom>
                <a:avLst/>
                <a:gdLst>
                  <a:gd name="textAreaLeft" fmla="*/ 0 w 26640"/>
                  <a:gd name="textAreaRight" fmla="*/ 27000 w 26640"/>
                  <a:gd name="textAreaTop" fmla="*/ 0 h 26640"/>
                  <a:gd name="textAreaBottom" fmla="*/ 27000 h 26640"/>
                </a:gdLst>
                <a:ahLst/>
                <a:cxnLst/>
                <a:rect l="textAreaLeft" t="textAreaTop" r="textAreaRight" b="textAreaBottom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000" bIns="-18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Freeform 42"/>
              <p:cNvSpPr/>
              <p:nvPr/>
            </p:nvSpPr>
            <p:spPr>
              <a:xfrm>
                <a:off x="9899640" y="1897920"/>
                <a:ext cx="107640" cy="107640"/>
              </a:xfrm>
              <a:custGeom>
                <a:avLst/>
                <a:gdLst>
                  <a:gd name="textAreaLeft" fmla="*/ 0 w 107640"/>
                  <a:gd name="textAreaRight" fmla="*/ 108000 w 1076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107950" h="107950">
                    <a:moveTo>
                      <a:pt x="0" y="107950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cubicBezTo>
                      <a:pt x="83785" y="0"/>
                      <a:pt x="107950" y="24165"/>
                      <a:pt x="107950" y="53975"/>
                    </a:cubicBezTo>
                    <a:lnTo>
                      <a:pt x="107950" y="10795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eform 43"/>
              <p:cNvSpPr/>
              <p:nvPr/>
            </p:nvSpPr>
            <p:spPr>
              <a:xfrm>
                <a:off x="9993960" y="2086920"/>
                <a:ext cx="80640" cy="53640"/>
              </a:xfrm>
              <a:custGeom>
                <a:avLst/>
                <a:gdLst>
                  <a:gd name="textAreaLeft" fmla="*/ 0 w 80640"/>
                  <a:gd name="textAreaRight" fmla="*/ 81000 w 8064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TextBox 45"/>
            <p:cNvSpPr/>
            <p:nvPr/>
          </p:nvSpPr>
          <p:spPr>
            <a:xfrm>
              <a:off x="10220760" y="188208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审查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46"/>
            <p:cNvSpPr/>
            <p:nvPr/>
          </p:nvSpPr>
          <p:spPr>
            <a:xfrm>
              <a:off x="9784800" y="2235600"/>
              <a:ext cx="18633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分类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规则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审批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Rectangle 47"/>
            <p:cNvSpPr/>
            <p:nvPr/>
          </p:nvSpPr>
          <p:spPr>
            <a:xfrm>
              <a:off x="6648480" y="4467240"/>
              <a:ext cx="1657080" cy="875880"/>
            </a:xfrm>
            <a:prstGeom prst="roundRect">
              <a:avLst>
                <a:gd name="adj" fmla="val 4348"/>
              </a:avLst>
            </a:prstGeom>
            <a:solidFill>
              <a:srgbClr val="101828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" name="Group 51"/>
            <p:cNvGrpSpPr/>
            <p:nvPr/>
          </p:nvGrpSpPr>
          <p:grpSpPr>
            <a:xfrm>
              <a:off x="6765120" y="4673520"/>
              <a:ext cx="242640" cy="215640"/>
              <a:chOff x="6765120" y="4673520"/>
              <a:chExt cx="242640" cy="215640"/>
            </a:xfrm>
          </p:grpSpPr>
          <p:sp>
            <p:nvSpPr>
              <p:cNvPr id="114" name="Freeform 48"/>
              <p:cNvSpPr/>
              <p:nvPr/>
            </p:nvSpPr>
            <p:spPr>
              <a:xfrm>
                <a:off x="6832440" y="4741200"/>
                <a:ext cx="39960" cy="80640"/>
              </a:xfrm>
              <a:custGeom>
                <a:avLst/>
                <a:gdLst>
                  <a:gd name="textAreaLeft" fmla="*/ 0 w 39960"/>
                  <a:gd name="textAreaRight" fmla="*/ 40320 w 39960"/>
                  <a:gd name="textAreaTop" fmla="*/ 0 h 80640"/>
                  <a:gd name="textAreaBottom" fmla="*/ 81000 h 80640"/>
                </a:gdLst>
                <a:ahLst/>
                <a:cxnLst/>
                <a:rect l="textAreaLeft" t="textAreaTop" r="textAreaRight" b="textAreaBottom"/>
                <a:pathLst>
                  <a:path w="40481" h="80963">
                    <a:moveTo>
                      <a:pt x="0" y="0"/>
                    </a:moveTo>
                    <a:lnTo>
                      <a:pt x="40481" y="40481"/>
                    </a:lnTo>
                    <a:lnTo>
                      <a:pt x="0" y="80963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00" bIns="36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Freeform 49"/>
              <p:cNvSpPr/>
              <p:nvPr/>
            </p:nvSpPr>
            <p:spPr>
              <a:xfrm>
                <a:off x="6900120" y="4822200"/>
                <a:ext cx="39960" cy="9000"/>
              </a:xfrm>
              <a:custGeom>
                <a:avLst/>
                <a:gdLst>
                  <a:gd name="textAreaLeft" fmla="*/ 0 w 39960"/>
                  <a:gd name="textAreaRight" fmla="*/ 40320 w 3996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40481" h="9525">
                    <a:moveTo>
                      <a:pt x="0" y="0"/>
                    </a:moveTo>
                    <a:lnTo>
                      <a:pt x="40481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Freeform 50"/>
              <p:cNvSpPr/>
              <p:nvPr/>
            </p:nvSpPr>
            <p:spPr>
              <a:xfrm>
                <a:off x="6765120" y="4673520"/>
                <a:ext cx="242640" cy="215640"/>
              </a:xfrm>
              <a:custGeom>
                <a:avLst/>
                <a:gdLst>
                  <a:gd name="textAreaLeft" fmla="*/ 0 w 242640"/>
                  <a:gd name="textAreaRight" fmla="*/ 243000 w 242640"/>
                  <a:gd name="textAreaTop" fmla="*/ 0 h 215640"/>
                  <a:gd name="textAreaBottom" fmla="*/ 216000 h 215640"/>
                </a:gdLst>
                <a:ahLst/>
                <a:cxnLst/>
                <a:rect l="textAreaLeft" t="textAreaTop" r="textAreaRight" b="textAreaBottom"/>
                <a:pathLst>
                  <a:path w="242888" h="215901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215901" y="0"/>
                    </a:lnTo>
                    <a:cubicBezTo>
                      <a:pt x="230805" y="0"/>
                      <a:pt x="242888" y="12083"/>
                      <a:pt x="242888" y="26988"/>
                    </a:cubicBezTo>
                    <a:lnTo>
                      <a:pt x="242888" y="188913"/>
                    </a:lnTo>
                    <a:cubicBezTo>
                      <a:pt x="242888" y="203818"/>
                      <a:pt x="230805" y="215901"/>
                      <a:pt x="215901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" name="TextBox 52"/>
            <p:cNvSpPr/>
            <p:nvPr/>
          </p:nvSpPr>
          <p:spPr>
            <a:xfrm>
              <a:off x="7153560" y="464436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执行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TextBox 53"/>
            <p:cNvSpPr/>
            <p:nvPr/>
          </p:nvSpPr>
          <p:spPr>
            <a:xfrm>
              <a:off x="6717960" y="4997880"/>
              <a:ext cx="2052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只读并行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受控写入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Rectangle 54"/>
            <p:cNvSpPr/>
            <p:nvPr/>
          </p:nvSpPr>
          <p:spPr>
            <a:xfrm>
              <a:off x="9620280" y="4438800"/>
              <a:ext cx="1657080" cy="875880"/>
            </a:xfrm>
            <a:prstGeom prst="roundRect">
              <a:avLst>
                <a:gd name="adj" fmla="val 4348"/>
              </a:avLst>
            </a:prstGeom>
            <a:solidFill>
              <a:srgbClr val="10182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" name="Group 58"/>
            <p:cNvGrpSpPr/>
            <p:nvPr/>
          </p:nvGrpSpPr>
          <p:grpSpPr>
            <a:xfrm>
              <a:off x="9845640" y="4660200"/>
              <a:ext cx="215640" cy="242280"/>
              <a:chOff x="9845640" y="4660200"/>
              <a:chExt cx="215640" cy="242280"/>
            </a:xfrm>
          </p:grpSpPr>
          <p:sp>
            <p:nvSpPr>
              <p:cNvPr id="121" name="Freeform 55"/>
              <p:cNvSpPr/>
              <p:nvPr/>
            </p:nvSpPr>
            <p:spPr>
              <a:xfrm>
                <a:off x="9845640" y="4660200"/>
                <a:ext cx="215640" cy="80640"/>
              </a:xfrm>
              <a:custGeom>
                <a:avLst/>
                <a:gdLst>
                  <a:gd name="textAreaLeft" fmla="*/ 0 w 215640"/>
                  <a:gd name="textAreaRight" fmla="*/ 216000 w 215640"/>
                  <a:gd name="textAreaTop" fmla="*/ 0 h 80640"/>
                  <a:gd name="textAreaBottom" fmla="*/ 81000 h 80640"/>
                </a:gdLst>
                <a:ahLst/>
                <a:cxnLst/>
                <a:rect l="textAreaLeft" t="textAreaTop" r="textAreaRight" b="textAreaBottom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00" bIns="36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Freeform 56"/>
              <p:cNvSpPr/>
              <p:nvPr/>
            </p:nvSpPr>
            <p:spPr>
              <a:xfrm>
                <a:off x="9845640" y="4700520"/>
                <a:ext cx="215640" cy="120960"/>
              </a:xfrm>
              <a:custGeom>
                <a:avLst/>
                <a:gdLst>
                  <a:gd name="textAreaLeft" fmla="*/ 0 w 215640"/>
                  <a:gd name="textAreaRight" fmla="*/ 216000 w 215640"/>
                  <a:gd name="textAreaTop" fmla="*/ 0 h 120960"/>
                  <a:gd name="textAreaBottom" fmla="*/ 121320 h 120960"/>
                </a:gdLst>
                <a:ahLst/>
                <a:cxnLst/>
                <a:rect l="textAreaLeft" t="textAreaTop" r="textAreaRight" b="textAreaBottom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Freeform 57"/>
              <p:cNvSpPr/>
              <p:nvPr/>
            </p:nvSpPr>
            <p:spPr>
              <a:xfrm>
                <a:off x="9845640" y="4781520"/>
                <a:ext cx="215640" cy="120960"/>
              </a:xfrm>
              <a:custGeom>
                <a:avLst/>
                <a:gdLst>
                  <a:gd name="textAreaLeft" fmla="*/ 0 w 215640"/>
                  <a:gd name="textAreaRight" fmla="*/ 216000 w 215640"/>
                  <a:gd name="textAreaTop" fmla="*/ 0 h 120960"/>
                  <a:gd name="textAreaBottom" fmla="*/ 121320 h 120960"/>
                </a:gdLst>
                <a:ahLst/>
                <a:cxnLst/>
                <a:rect l="textAreaLeft" t="textAreaTop" r="textAreaRight" b="textAreaBottom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4" name="TextBox 59"/>
            <p:cNvSpPr/>
            <p:nvPr/>
          </p:nvSpPr>
          <p:spPr>
            <a:xfrm>
              <a:off x="10220760" y="464436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留痕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TextBox 60"/>
            <p:cNvSpPr/>
            <p:nvPr/>
          </p:nvSpPr>
          <p:spPr>
            <a:xfrm>
              <a:off x="9784800" y="4997880"/>
              <a:ext cx="18633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消息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调用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审计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6" name="Group 64"/>
          <p:cNvGrpSpPr/>
          <p:nvPr/>
        </p:nvGrpSpPr>
        <p:grpSpPr>
          <a:xfrm>
            <a:off x="545760" y="6388560"/>
            <a:ext cx="11100240" cy="687960"/>
            <a:chOff x="545760" y="6388560"/>
            <a:chExt cx="11100240" cy="687960"/>
          </a:xfrm>
        </p:grpSpPr>
        <p:sp>
          <p:nvSpPr>
            <p:cNvPr id="127" name="TextBox 62"/>
            <p:cNvSpPr/>
            <p:nvPr/>
          </p:nvSpPr>
          <p:spPr>
            <a:xfrm>
              <a:off x="545760" y="6388560"/>
              <a:ext cx="5608440" cy="68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Microsoft YaHei"/>
                </a:rPr>
                <a:t>中国软件杯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Microsoft YaHei"/>
                </a:rPr>
                <a:t>· A2-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Microsoft YaHei"/>
                </a:rPr>
                <a:t>面向麒麟操作系统的安全智能运维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Microsoft YaHei"/>
                </a:rPr>
                <a:t>Agent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Microsoft YaHei"/>
                </a:rPr>
                <a:t>设计与实现</a:t>
              </a:r>
              <a:endParaRPr lang="en-US" sz="1350" b="1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</a:pP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63"/>
            <p:cNvSpPr/>
            <p:nvPr/>
          </p:nvSpPr>
          <p:spPr>
            <a:xfrm>
              <a:off x="10886040" y="638856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01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30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" name="Group 8"/>
          <p:cNvGrpSpPr/>
          <p:nvPr/>
        </p:nvGrpSpPr>
        <p:grpSpPr>
          <a:xfrm>
            <a:off x="514440" y="254160"/>
            <a:ext cx="12207240" cy="1312920"/>
            <a:chOff x="514440" y="254160"/>
            <a:chExt cx="12207240" cy="1312920"/>
          </a:xfrm>
        </p:grpSpPr>
        <p:sp>
          <p:nvSpPr>
            <p:cNvPr id="133" name="TextBox 5"/>
            <p:cNvSpPr/>
            <p:nvPr/>
          </p:nvSpPr>
          <p:spPr>
            <a:xfrm>
              <a:off x="526680" y="254160"/>
              <a:ext cx="5490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REQ-MAP / 5 REQUIREMENTS / ENGINEERING PROOF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6"/>
            <p:cNvSpPr/>
            <p:nvPr/>
          </p:nvSpPr>
          <p:spPr>
            <a:xfrm>
              <a:off x="514440" y="569520"/>
              <a:ext cx="1220724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赛题五项要求已经落到可核对的工程证据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TextBox 7"/>
            <p:cNvSpPr/>
            <p:nvPr/>
          </p:nvSpPr>
          <p:spPr>
            <a:xfrm>
              <a:off x="543240" y="1215360"/>
              <a:ext cx="77446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不是概念映射：每一项都有工具、代码路径或测试结果支撑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6" name="Group 30"/>
          <p:cNvGrpSpPr/>
          <p:nvPr/>
        </p:nvGrpSpPr>
        <p:grpSpPr>
          <a:xfrm>
            <a:off x="533520" y="1695600"/>
            <a:ext cx="11404800" cy="4099320"/>
            <a:chOff x="533520" y="1695600"/>
            <a:chExt cx="11404800" cy="4099320"/>
          </a:xfrm>
        </p:grpSpPr>
        <p:sp>
          <p:nvSpPr>
            <p:cNvPr id="137" name="Rectangle 9"/>
            <p:cNvSpPr/>
            <p:nvPr/>
          </p:nvSpPr>
          <p:spPr>
            <a:xfrm>
              <a:off x="533520" y="1695600"/>
              <a:ext cx="11124720" cy="4076280"/>
            </a:xfrm>
            <a:prstGeom prst="rect">
              <a:avLst/>
            </a:prstGeom>
            <a:solidFill>
              <a:srgbClr val="132238">
                <a:alpha val="70000"/>
              </a:srgbClr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10"/>
            <p:cNvSpPr/>
            <p:nvPr/>
          </p:nvSpPr>
          <p:spPr>
            <a:xfrm>
              <a:off x="533520" y="1695600"/>
              <a:ext cx="11124720" cy="552240"/>
            </a:xfrm>
            <a:prstGeom prst="rect">
              <a:avLst/>
            </a:prstGeom>
            <a:solidFill>
              <a:srgbClr val="18253a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Freeform 11"/>
            <p:cNvSpPr/>
            <p:nvPr/>
          </p:nvSpPr>
          <p:spPr>
            <a:xfrm>
              <a:off x="533520" y="1695600"/>
              <a:ext cx="11124720" cy="4076280"/>
            </a:xfrm>
            <a:custGeom>
              <a:avLst/>
              <a:gdLst>
                <a:gd name="textAreaLeft" fmla="*/ 0 w 11124720"/>
                <a:gd name="textAreaRight" fmla="*/ 11125080 w 11124720"/>
                <a:gd name="textAreaTop" fmla="*/ 0 h 4076280"/>
                <a:gd name="textAreaBottom" fmla="*/ 4076640 h 4076280"/>
              </a:gdLst>
              <a:ahLst/>
              <a:cxnLst/>
              <a:rect l="textAreaLeft" t="textAreaTop" r="textAreaRight" b="textAreaBottom"/>
              <a:pathLst>
                <a:path w="11125200" h="4076700">
                  <a:moveTo>
                    <a:pt x="2724150" y="0"/>
                  </a:moveTo>
                  <a:lnTo>
                    <a:pt x="2724150" y="4076700"/>
                  </a:lnTo>
                  <a:moveTo>
                    <a:pt x="7258050" y="0"/>
                  </a:moveTo>
                  <a:lnTo>
                    <a:pt x="7258050" y="4076700"/>
                  </a:lnTo>
                  <a:moveTo>
                    <a:pt x="0" y="552450"/>
                  </a:moveTo>
                  <a:lnTo>
                    <a:pt x="11125200" y="552450"/>
                  </a:lnTo>
                  <a:moveTo>
                    <a:pt x="0" y="1257300"/>
                  </a:moveTo>
                  <a:lnTo>
                    <a:pt x="11125200" y="1257300"/>
                  </a:lnTo>
                  <a:moveTo>
                    <a:pt x="0" y="1962150"/>
                  </a:moveTo>
                  <a:lnTo>
                    <a:pt x="11125200" y="1962150"/>
                  </a:lnTo>
                  <a:moveTo>
                    <a:pt x="0" y="2667000"/>
                  </a:moveTo>
                  <a:lnTo>
                    <a:pt x="11125200" y="2667000"/>
                  </a:lnTo>
                  <a:moveTo>
                    <a:pt x="0" y="3371850"/>
                  </a:moveTo>
                  <a:lnTo>
                    <a:pt x="11125200" y="337185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12"/>
            <p:cNvSpPr/>
            <p:nvPr/>
          </p:nvSpPr>
          <p:spPr>
            <a:xfrm>
              <a:off x="733680" y="186300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赛题要求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13"/>
            <p:cNvSpPr/>
            <p:nvPr/>
          </p:nvSpPr>
          <p:spPr>
            <a:xfrm>
              <a:off x="3476880" y="186300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项目实现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TextBox 14"/>
            <p:cNvSpPr/>
            <p:nvPr/>
          </p:nvSpPr>
          <p:spPr>
            <a:xfrm>
              <a:off x="8011080" y="1863000"/>
              <a:ext cx="15782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可核对证据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TextBox 15"/>
            <p:cNvSpPr/>
            <p:nvPr/>
          </p:nvSpPr>
          <p:spPr>
            <a:xfrm>
              <a:off x="733680" y="2482200"/>
              <a:ext cx="18727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OS </a:t>
              </a: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深度感知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Box 16"/>
            <p:cNvSpPr/>
            <p:nvPr/>
          </p:nvSpPr>
          <p:spPr>
            <a:xfrm>
              <a:off x="3476880" y="2482200"/>
              <a:ext cx="52167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18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个业务工具，覆盖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OS / DB / eBPF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Box 17"/>
            <p:cNvSpPr/>
            <p:nvPr/>
          </p:nvSpPr>
          <p:spPr>
            <a:xfrm>
              <a:off x="8011080" y="2482200"/>
              <a:ext cx="36921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tool catalog + eBPF tests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TextBox 18"/>
            <p:cNvSpPr/>
            <p:nvPr/>
          </p:nvSpPr>
          <p:spPr>
            <a:xfrm>
              <a:off x="733680" y="3187080"/>
              <a:ext cx="17236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MCP </a:t>
              </a: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插件化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TextBox 19"/>
            <p:cNvSpPr/>
            <p:nvPr/>
          </p:nvSpPr>
          <p:spPr>
            <a:xfrm>
              <a:off x="3476880" y="3187080"/>
              <a:ext cx="5611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多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Server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自动发现与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server_name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路由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Box 20"/>
            <p:cNvSpPr/>
            <p:nvPr/>
          </p:nvSpPr>
          <p:spPr>
            <a:xfrm>
              <a:off x="8011080" y="3187080"/>
              <a:ext cx="29005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registry + executor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Box 21"/>
            <p:cNvSpPr/>
            <p:nvPr/>
          </p:nvSpPr>
          <p:spPr>
            <a:xfrm>
              <a:off x="733680" y="3891960"/>
              <a:ext cx="1890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安全意图校验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TextBox 22"/>
            <p:cNvSpPr/>
            <p:nvPr/>
          </p:nvSpPr>
          <p:spPr>
            <a:xfrm>
              <a:off x="3476880" y="3891960"/>
              <a:ext cx="4438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输入安全门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+ Bash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参数动态分类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TextBox 23"/>
            <p:cNvSpPr/>
            <p:nvPr/>
          </p:nvSpPr>
          <p:spPr>
            <a:xfrm>
              <a:off x="8011080" y="3891960"/>
              <a:ext cx="39272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InputSafetyGate + classify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TextBox 24"/>
            <p:cNvSpPr/>
            <p:nvPr/>
          </p:nvSpPr>
          <p:spPr>
            <a:xfrm>
              <a:off x="733680" y="4596840"/>
              <a:ext cx="1890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最小权限执行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TextBox 25"/>
            <p:cNvSpPr/>
            <p:nvPr/>
          </p:nvSpPr>
          <p:spPr>
            <a:xfrm>
              <a:off x="3476880" y="4501440"/>
              <a:ext cx="4187520" cy="61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ts val="21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容器权限边界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+ capability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白名单执行前二次校验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TextBox 26"/>
            <p:cNvSpPr/>
            <p:nvPr/>
          </p:nvSpPr>
          <p:spPr>
            <a:xfrm>
              <a:off x="8011080" y="4501440"/>
              <a:ext cx="3515400" cy="61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ts val="2100"/>
                </a:lnSpc>
              </a:pPr>
              <a:r>
                <a:rPr lang="en-US" sz="180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cap_drop: ALL execute_tool + request_id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27"/>
            <p:cNvSpPr/>
            <p:nvPr/>
          </p:nvSpPr>
          <p:spPr>
            <a:xfrm>
              <a:off x="733680" y="5301720"/>
              <a:ext cx="1890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推理链路溯源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28"/>
            <p:cNvSpPr/>
            <p:nvPr/>
          </p:nvSpPr>
          <p:spPr>
            <a:xfrm>
              <a:off x="3476880" y="5301720"/>
              <a:ext cx="44755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五类证据持久化，刷新后仍可恢复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TextBox 29"/>
            <p:cNvSpPr/>
            <p:nvPr/>
          </p:nvSpPr>
          <p:spPr>
            <a:xfrm>
              <a:off x="8013240" y="5112000"/>
              <a:ext cx="2626200" cy="68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ts val="1650"/>
                </a:lnSpc>
              </a:pPr>
              <a:r>
                <a:rPr lang="en-US" sz="1350" b="0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sessions + messages + tool_calls audit_events + llm_traces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8" name="TextBox 39"/>
          <p:cNvSpPr/>
          <p:nvPr/>
        </p:nvSpPr>
        <p:spPr>
          <a:xfrm>
            <a:off x="10905120" y="6426360"/>
            <a:ext cx="7599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7f91aa"/>
                </a:solidFill>
                <a:effectLst/>
                <a:uFillTx/>
                <a:latin typeface="Consolas"/>
                <a:ea typeface="Consolas"/>
              </a:rPr>
              <a:t>02 / 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160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5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roup 8"/>
          <p:cNvGrpSpPr/>
          <p:nvPr/>
        </p:nvGrpSpPr>
        <p:grpSpPr>
          <a:xfrm>
            <a:off x="514440" y="235440"/>
            <a:ext cx="11671920" cy="1572120"/>
            <a:chOff x="514440" y="235440"/>
            <a:chExt cx="11671920" cy="1572120"/>
          </a:xfrm>
        </p:grpSpPr>
        <p:sp>
          <p:nvSpPr>
            <p:cNvPr id="163" name="TextBox 5"/>
            <p:cNvSpPr/>
            <p:nvPr/>
          </p:nvSpPr>
          <p:spPr>
            <a:xfrm>
              <a:off x="526680" y="235440"/>
              <a:ext cx="40712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ARCH-01 / DECOUPLED MCP TOOL BUS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TextBox 6"/>
            <p:cNvSpPr/>
            <p:nvPr/>
          </p:nvSpPr>
          <p:spPr>
            <a:xfrm>
              <a:off x="514440" y="493560"/>
              <a:ext cx="965376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Agent 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主循环与基础设施解耦，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7"/>
            <p:cNvSpPr/>
            <p:nvPr/>
          </p:nvSpPr>
          <p:spPr>
            <a:xfrm>
              <a:off x="514440" y="1045800"/>
              <a:ext cx="1167192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7cb7ff"/>
                  </a:solidFill>
                  <a:effectLst/>
                  <a:uFillTx/>
                  <a:latin typeface="Segoe UI"/>
                  <a:ea typeface="Microsoft YaHei"/>
                </a:rPr>
                <a:t>MCP Server </a:t>
              </a:r>
              <a:r>
                <a:rPr lang="zh-CN" sz="3900" b="1" u="none" strike="noStrike">
                  <a:solidFill>
                    <a:srgbClr val="7cb7ff"/>
                  </a:solidFill>
                  <a:effectLst/>
                  <a:uFillTx/>
                  <a:latin typeface="Segoe UI"/>
                  <a:ea typeface="Microsoft YaHei"/>
                </a:rPr>
                <a:t>提供统一的云平台扩展位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" name="Group 53"/>
          <p:cNvGrpSpPr/>
          <p:nvPr/>
        </p:nvGrpSpPr>
        <p:grpSpPr>
          <a:xfrm>
            <a:off x="533520" y="1752480"/>
            <a:ext cx="9710280" cy="3924000"/>
            <a:chOff x="533520" y="1752480"/>
            <a:chExt cx="9710280" cy="3924000"/>
          </a:xfrm>
        </p:grpSpPr>
        <p:sp>
          <p:nvSpPr>
            <p:cNvPr id="167" name="Rectangle 9"/>
            <p:cNvSpPr/>
            <p:nvPr/>
          </p:nvSpPr>
          <p:spPr>
            <a:xfrm>
              <a:off x="533520" y="1752480"/>
              <a:ext cx="8857800" cy="3924000"/>
            </a:xfrm>
            <a:prstGeom prst="rect">
              <a:avLst/>
            </a:prstGeom>
            <a:solidFill>
              <a:srgbClr val="132238">
                <a:alpha val="52000"/>
              </a:srgbClr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Freeform 10"/>
            <p:cNvSpPr/>
            <p:nvPr/>
          </p:nvSpPr>
          <p:spPr>
            <a:xfrm>
              <a:off x="533520" y="2666880"/>
              <a:ext cx="8857800" cy="1980720"/>
            </a:xfrm>
            <a:custGeom>
              <a:avLst/>
              <a:gdLst>
                <a:gd name="textAreaLeft" fmla="*/ 0 w 8857800"/>
                <a:gd name="textAreaRight" fmla="*/ 8858160 w 8857800"/>
                <a:gd name="textAreaTop" fmla="*/ 0 h 1980720"/>
                <a:gd name="textAreaBottom" fmla="*/ 1981080 h 1980720"/>
              </a:gdLst>
              <a:ahLst/>
              <a:cxnLst/>
              <a:rect l="textAreaLeft" t="textAreaTop" r="textAreaRight" b="textAreaBottom"/>
              <a:pathLst>
                <a:path w="8858250" h="1981200">
                  <a:moveTo>
                    <a:pt x="0" y="0"/>
                  </a:moveTo>
                  <a:lnTo>
                    <a:pt x="8858250" y="0"/>
                  </a:lnTo>
                  <a:moveTo>
                    <a:pt x="0" y="990600"/>
                  </a:moveTo>
                  <a:lnTo>
                    <a:pt x="8858250" y="990600"/>
                  </a:lnTo>
                  <a:moveTo>
                    <a:pt x="0" y="1981200"/>
                  </a:moveTo>
                  <a:lnTo>
                    <a:pt x="8858250" y="198120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Freeform 11"/>
            <p:cNvSpPr/>
            <p:nvPr/>
          </p:nvSpPr>
          <p:spPr>
            <a:xfrm>
              <a:off x="1562040" y="1752480"/>
              <a:ext cx="9000" cy="392400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924000"/>
                <a:gd name="textAreaBottom" fmla="*/ 3924360 h 3924000"/>
              </a:gdLst>
              <a:ahLst/>
              <a:cxnLst/>
              <a:rect l="textAreaLeft" t="textAreaTop" r="textAreaRight" b="textAreaBottom"/>
              <a:pathLst>
                <a:path w="9525" h="3924300">
                  <a:moveTo>
                    <a:pt x="0" y="0"/>
                  </a:moveTo>
                  <a:lnTo>
                    <a:pt x="0" y="392430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Rectangle 12"/>
            <p:cNvSpPr/>
            <p:nvPr/>
          </p:nvSpPr>
          <p:spPr>
            <a:xfrm>
              <a:off x="685800" y="1933560"/>
              <a:ext cx="723600" cy="552240"/>
            </a:xfrm>
            <a:prstGeom prst="roundRect">
              <a:avLst>
                <a:gd name="adj" fmla="val 6897"/>
              </a:avLst>
            </a:prstGeom>
            <a:solidFill>
              <a:srgbClr val="18253a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TextBox 13"/>
            <p:cNvSpPr/>
            <p:nvPr/>
          </p:nvSpPr>
          <p:spPr>
            <a:xfrm>
              <a:off x="910800" y="2026080"/>
              <a:ext cx="273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L1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TextBox 14"/>
            <p:cNvSpPr/>
            <p:nvPr/>
          </p:nvSpPr>
          <p:spPr>
            <a:xfrm>
              <a:off x="726480" y="220608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交互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3" name="Group 19"/>
            <p:cNvGrpSpPr/>
            <p:nvPr/>
          </p:nvGrpSpPr>
          <p:grpSpPr>
            <a:xfrm>
              <a:off x="1883520" y="2044800"/>
              <a:ext cx="328320" cy="309960"/>
              <a:chOff x="1883520" y="2044800"/>
              <a:chExt cx="328320" cy="309960"/>
            </a:xfrm>
          </p:grpSpPr>
          <p:sp>
            <p:nvSpPr>
              <p:cNvPr id="174" name="Freeform 15"/>
              <p:cNvSpPr/>
              <p:nvPr/>
            </p:nvSpPr>
            <p:spPr>
              <a:xfrm>
                <a:off x="1883520" y="2044800"/>
                <a:ext cx="328320" cy="30996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309960"/>
                  <a:gd name="textAreaBottom" fmla="*/ 310320 h 309960"/>
                </a:gdLst>
                <a:ahLst/>
                <a:cxnLst/>
                <a:rect l="textAreaLeft" t="textAreaTop" r="textAreaRight" b="textAreaBottom"/>
                <a:pathLst>
                  <a:path w="328613" h="310357">
                    <a:moveTo>
                      <a:pt x="273844" y="0"/>
                    </a:moveTo>
                    <a:cubicBezTo>
                      <a:pt x="304092" y="0"/>
                      <a:pt x="328613" y="24521"/>
                      <a:pt x="328613" y="54769"/>
                    </a:cubicBezTo>
                    <a:lnTo>
                      <a:pt x="328613" y="200819"/>
                    </a:lnTo>
                    <a:cubicBezTo>
                      <a:pt x="328613" y="231067"/>
                      <a:pt x="304092" y="255588"/>
                      <a:pt x="273844" y="255588"/>
                    </a:cubicBezTo>
                    <a:lnTo>
                      <a:pt x="182563" y="255588"/>
                    </a:lnTo>
                    <a:lnTo>
                      <a:pt x="91281" y="310357"/>
                    </a:lnTo>
                    <a:lnTo>
                      <a:pt x="91281" y="255588"/>
                    </a:lnTo>
                    <a:lnTo>
                      <a:pt x="54769" y="255588"/>
                    </a:lnTo>
                    <a:cubicBezTo>
                      <a:pt x="24521" y="255588"/>
                      <a:pt x="0" y="231067"/>
                      <a:pt x="0" y="200819"/>
                    </a:cubicBezTo>
                    <a:lnTo>
                      <a:pt x="0" y="54769"/>
                    </a:lnTo>
                    <a:cubicBezTo>
                      <a:pt x="0" y="24521"/>
                      <a:pt x="24521" y="0"/>
                      <a:pt x="54769" y="0"/>
                    </a:cubicBezTo>
                    <a:lnTo>
                      <a:pt x="273844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Freeform 16"/>
              <p:cNvSpPr/>
              <p:nvPr/>
            </p:nvSpPr>
            <p:spPr>
              <a:xfrm>
                <a:off x="2002320" y="213588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Freeform 17"/>
              <p:cNvSpPr/>
              <p:nvPr/>
            </p:nvSpPr>
            <p:spPr>
              <a:xfrm>
                <a:off x="2093400" y="213588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Freeform 18"/>
              <p:cNvSpPr/>
              <p:nvPr/>
            </p:nvSpPr>
            <p:spPr>
              <a:xfrm>
                <a:off x="2002320" y="2208960"/>
                <a:ext cx="91080" cy="18720"/>
              </a:xfrm>
              <a:custGeom>
                <a:avLst/>
                <a:gdLst>
                  <a:gd name="textAreaLeft" fmla="*/ 0 w 91080"/>
                  <a:gd name="textAreaRight" fmla="*/ 91440 w 91080"/>
                  <a:gd name="textAreaTop" fmla="*/ 0 h 18720"/>
                  <a:gd name="textAreaBottom" fmla="*/ 19080 h 18720"/>
                </a:gdLst>
                <a:ahLst/>
                <a:cxnLst/>
                <a:rect l="textAreaLeft" t="textAreaTop" r="textAreaRight" b="textAreaBottom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8" name="TextBox 20"/>
            <p:cNvSpPr/>
            <p:nvPr/>
          </p:nvSpPr>
          <p:spPr>
            <a:xfrm>
              <a:off x="2426040" y="1941120"/>
              <a:ext cx="444636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Arial"/>
                </a:rPr>
                <a:t>Browser / Vue / Nginx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TextBox 21"/>
            <p:cNvSpPr/>
            <p:nvPr/>
          </p:nvSpPr>
          <p:spPr>
            <a:xfrm>
              <a:off x="2429280" y="2301120"/>
              <a:ext cx="50497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SSE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对话、审批交互与历史证据恢复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2"/>
            <p:cNvSpPr/>
            <p:nvPr/>
          </p:nvSpPr>
          <p:spPr>
            <a:xfrm>
              <a:off x="685800" y="2886120"/>
              <a:ext cx="723600" cy="552240"/>
            </a:xfrm>
            <a:prstGeom prst="roundRect">
              <a:avLst>
                <a:gd name="adj" fmla="val 6897"/>
              </a:avLst>
            </a:prstGeom>
            <a:solidFill>
              <a:srgbClr val="18253a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TextBox 23"/>
            <p:cNvSpPr/>
            <p:nvPr/>
          </p:nvSpPr>
          <p:spPr>
            <a:xfrm>
              <a:off x="910800" y="2978640"/>
              <a:ext cx="273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L2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TextBox 24"/>
            <p:cNvSpPr/>
            <p:nvPr/>
          </p:nvSpPr>
          <p:spPr>
            <a:xfrm>
              <a:off x="726480" y="315864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编排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3" name="Group 31"/>
            <p:cNvGrpSpPr/>
            <p:nvPr/>
          </p:nvGrpSpPr>
          <p:grpSpPr>
            <a:xfrm>
              <a:off x="1883520" y="3017160"/>
              <a:ext cx="328320" cy="328320"/>
              <a:chOff x="1883520" y="3017160"/>
              <a:chExt cx="328320" cy="328320"/>
            </a:xfrm>
          </p:grpSpPr>
          <p:sp>
            <p:nvSpPr>
              <p:cNvPr id="184" name="Freeform 25"/>
              <p:cNvSpPr/>
              <p:nvPr/>
            </p:nvSpPr>
            <p:spPr>
              <a:xfrm>
                <a:off x="2048040" y="3199680"/>
                <a:ext cx="127440" cy="145800"/>
              </a:xfrm>
              <a:custGeom>
                <a:avLst/>
                <a:gdLst>
                  <a:gd name="textAreaLeft" fmla="*/ 0 w 127440"/>
                  <a:gd name="textAreaRight" fmla="*/ 127800 w 127440"/>
                  <a:gd name="textAreaTop" fmla="*/ 0 h 145800"/>
                  <a:gd name="textAreaBottom" fmla="*/ 146160 h 145800"/>
                </a:gdLst>
                <a:ahLst/>
                <a:cxnLst/>
                <a:rect l="textAreaLeft" t="textAreaTop" r="textAreaRight" b="textAreaBottom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5" name="Freeform 26"/>
              <p:cNvSpPr/>
              <p:nvPr/>
            </p:nvSpPr>
            <p:spPr>
              <a:xfrm>
                <a:off x="1920240" y="3199680"/>
                <a:ext cx="127440" cy="145800"/>
              </a:xfrm>
              <a:custGeom>
                <a:avLst/>
                <a:gdLst>
                  <a:gd name="textAreaLeft" fmla="*/ 0 w 127440"/>
                  <a:gd name="textAreaRight" fmla="*/ 127800 w 127440"/>
                  <a:gd name="textAreaTop" fmla="*/ 0 h 145800"/>
                  <a:gd name="textAreaBottom" fmla="*/ 146160 h 145800"/>
                </a:gdLst>
                <a:ahLst/>
                <a:cxnLst/>
                <a:rect l="textAreaLeft" t="textAreaTop" r="textAreaRight" b="textAreaBottom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eform 27"/>
              <p:cNvSpPr/>
              <p:nvPr/>
            </p:nvSpPr>
            <p:spPr>
              <a:xfrm>
                <a:off x="2139120" y="3126600"/>
                <a:ext cx="72720" cy="12744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eform 28"/>
              <p:cNvSpPr/>
              <p:nvPr/>
            </p:nvSpPr>
            <p:spPr>
              <a:xfrm>
                <a:off x="2048040" y="3017160"/>
                <a:ext cx="127440" cy="114480"/>
              </a:xfrm>
              <a:custGeom>
                <a:avLst/>
                <a:gdLst>
                  <a:gd name="textAreaLeft" fmla="*/ 0 w 127440"/>
                  <a:gd name="textAreaRight" fmla="*/ 127800 w 127440"/>
                  <a:gd name="textAreaTop" fmla="*/ 0 h 114480"/>
                  <a:gd name="textAreaBottom" fmla="*/ 114840 h 114480"/>
                </a:gdLst>
                <a:ahLst/>
                <a:cxnLst/>
                <a:rect l="textAreaLeft" t="textAreaTop" r="textAreaRight" b="textAreaBottom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eform 29"/>
              <p:cNvSpPr/>
              <p:nvPr/>
            </p:nvSpPr>
            <p:spPr>
              <a:xfrm>
                <a:off x="1883520" y="3126600"/>
                <a:ext cx="72720" cy="12744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eform 30"/>
              <p:cNvSpPr/>
              <p:nvPr/>
            </p:nvSpPr>
            <p:spPr>
              <a:xfrm>
                <a:off x="1920240" y="3017160"/>
                <a:ext cx="127440" cy="246240"/>
              </a:xfrm>
              <a:custGeom>
                <a:avLst/>
                <a:gdLst>
                  <a:gd name="textAreaLeft" fmla="*/ 0 w 127440"/>
                  <a:gd name="textAreaRight" fmla="*/ 127800 w 127440"/>
                  <a:gd name="textAreaTop" fmla="*/ 0 h 246240"/>
                  <a:gd name="textAreaBottom" fmla="*/ 246600 h 246240"/>
                </a:gdLst>
                <a:ahLst/>
                <a:cxnLst/>
                <a:rect l="textAreaLeft" t="textAreaTop" r="textAreaRight" b="textAreaBottom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0" name="TextBox 32"/>
            <p:cNvSpPr/>
            <p:nvPr/>
          </p:nvSpPr>
          <p:spPr>
            <a:xfrm>
              <a:off x="2426040" y="2931840"/>
              <a:ext cx="40795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Arial"/>
                </a:rPr>
                <a:t>FastAPI web-server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TextBox 33"/>
            <p:cNvSpPr/>
            <p:nvPr/>
          </p:nvSpPr>
          <p:spPr>
            <a:xfrm>
              <a:off x="2429280" y="3291840"/>
              <a:ext cx="7174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Arial"/>
                </a:rPr>
                <a:t>InputSafetyGate / Agent loop / Review / Approval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Rectangle 34"/>
            <p:cNvSpPr/>
            <p:nvPr/>
          </p:nvSpPr>
          <p:spPr>
            <a:xfrm>
              <a:off x="685800" y="3876840"/>
              <a:ext cx="723600" cy="552240"/>
            </a:xfrm>
            <a:prstGeom prst="roundRect">
              <a:avLst>
                <a:gd name="adj" fmla="val 6897"/>
              </a:avLst>
            </a:prstGeom>
            <a:solidFill>
              <a:srgbClr val="18253a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TextBox 35"/>
            <p:cNvSpPr/>
            <p:nvPr/>
          </p:nvSpPr>
          <p:spPr>
            <a:xfrm>
              <a:off x="910800" y="3969000"/>
              <a:ext cx="273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L3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TextBox 36"/>
            <p:cNvSpPr/>
            <p:nvPr/>
          </p:nvSpPr>
          <p:spPr>
            <a:xfrm>
              <a:off x="726480" y="414900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路由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5" name="Group 40"/>
            <p:cNvGrpSpPr/>
            <p:nvPr/>
          </p:nvGrpSpPr>
          <p:grpSpPr>
            <a:xfrm>
              <a:off x="1883520" y="4007520"/>
              <a:ext cx="328320" cy="328320"/>
              <a:chOff x="1883520" y="4007520"/>
              <a:chExt cx="328320" cy="328320"/>
            </a:xfrm>
          </p:grpSpPr>
          <p:sp>
            <p:nvSpPr>
              <p:cNvPr id="196" name="Freeform 37"/>
              <p:cNvSpPr/>
              <p:nvPr/>
            </p:nvSpPr>
            <p:spPr>
              <a:xfrm>
                <a:off x="1883520" y="4263120"/>
                <a:ext cx="72720" cy="7272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73025" h="73025">
                    <a:moveTo>
                      <a:pt x="0" y="36513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3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3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080" bIns="280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7" name="Freeform 38"/>
              <p:cNvSpPr/>
              <p:nvPr/>
            </p:nvSpPr>
            <p:spPr>
              <a:xfrm>
                <a:off x="2139120" y="4007520"/>
                <a:ext cx="72720" cy="72720"/>
              </a:xfrm>
              <a:custGeom>
                <a:avLst/>
                <a:gdLst>
                  <a:gd name="textAreaLeft" fmla="*/ 0 w 72720"/>
                  <a:gd name="textAreaRight" fmla="*/ 73080 w 72720"/>
                  <a:gd name="textAreaTop" fmla="*/ 0 h 72720"/>
                  <a:gd name="textAreaBottom" fmla="*/ 73080 h 72720"/>
                </a:gdLst>
                <a:ahLst/>
                <a:cxnLst/>
                <a:rect l="textAreaLeft" t="textAreaTop" r="textAreaRight" b="textAreaBottom"/>
                <a:pathLst>
                  <a:path w="73025" h="73025">
                    <a:moveTo>
                      <a:pt x="36513" y="73025"/>
                    </a:moveTo>
                    <a:cubicBezTo>
                      <a:pt x="56678" y="73025"/>
                      <a:pt x="73025" y="56678"/>
                      <a:pt x="73025" y="36513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3"/>
                    </a:cubicBezTo>
                    <a:cubicBezTo>
                      <a:pt x="0" y="56678"/>
                      <a:pt x="16347" y="73025"/>
                      <a:pt x="36513" y="73025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080" bIns="280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Freeform 39"/>
              <p:cNvSpPr/>
              <p:nvPr/>
            </p:nvSpPr>
            <p:spPr>
              <a:xfrm>
                <a:off x="1920240" y="4044240"/>
                <a:ext cx="273600" cy="255240"/>
              </a:xfrm>
              <a:custGeom>
                <a:avLst/>
                <a:gdLst>
                  <a:gd name="textAreaLeft" fmla="*/ 0 w 273600"/>
                  <a:gd name="textAreaRight" fmla="*/ 273960 w 273600"/>
                  <a:gd name="textAreaTop" fmla="*/ 0 h 255240"/>
                  <a:gd name="textAreaBottom" fmla="*/ 255600 h 255240"/>
                </a:gdLst>
                <a:ahLst/>
                <a:cxnLst/>
                <a:rect l="textAreaLeft" t="textAreaTop" r="textAreaRight" b="textAreaBottom"/>
                <a:pathLst>
                  <a:path w="273844" h="255588">
                    <a:moveTo>
                      <a:pt x="109538" y="255588"/>
                    </a:moveTo>
                    <a:lnTo>
                      <a:pt x="209947" y="255588"/>
                    </a:lnTo>
                    <a:cubicBezTo>
                      <a:pt x="245237" y="255588"/>
                      <a:pt x="273844" y="226980"/>
                      <a:pt x="273844" y="191691"/>
                    </a:cubicBezTo>
                    <a:cubicBezTo>
                      <a:pt x="273844" y="156402"/>
                      <a:pt x="245237" y="127794"/>
                      <a:pt x="209947" y="127794"/>
                    </a:cubicBezTo>
                    <a:lnTo>
                      <a:pt x="63897" y="127794"/>
                    </a:ln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14605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9" name="TextBox 41"/>
            <p:cNvSpPr/>
            <p:nvPr/>
          </p:nvSpPr>
          <p:spPr>
            <a:xfrm>
              <a:off x="2426040" y="3922560"/>
              <a:ext cx="31507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Arial"/>
                </a:rPr>
                <a:t>ServerRegistry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TextBox 42"/>
            <p:cNvSpPr/>
            <p:nvPr/>
          </p:nvSpPr>
          <p:spPr>
            <a:xfrm>
              <a:off x="2429280" y="4282560"/>
              <a:ext cx="78145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多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MCP Server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发现、工具目录合并与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server_name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路由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Rectangle 43"/>
            <p:cNvSpPr/>
            <p:nvPr/>
          </p:nvSpPr>
          <p:spPr>
            <a:xfrm>
              <a:off x="685800" y="4867200"/>
              <a:ext cx="723600" cy="552240"/>
            </a:xfrm>
            <a:prstGeom prst="roundRect">
              <a:avLst>
                <a:gd name="adj" fmla="val 6897"/>
              </a:avLst>
            </a:prstGeom>
            <a:solidFill>
              <a:srgbClr val="18253a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Box 44"/>
            <p:cNvSpPr/>
            <p:nvPr/>
          </p:nvSpPr>
          <p:spPr>
            <a:xfrm>
              <a:off x="910800" y="4959720"/>
              <a:ext cx="273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L4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Box 45"/>
            <p:cNvSpPr/>
            <p:nvPr/>
          </p:nvSpPr>
          <p:spPr>
            <a:xfrm>
              <a:off x="726480" y="513972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工具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oup 50"/>
            <p:cNvGrpSpPr/>
            <p:nvPr/>
          </p:nvGrpSpPr>
          <p:grpSpPr>
            <a:xfrm>
              <a:off x="1883520" y="5016600"/>
              <a:ext cx="328320" cy="291600"/>
              <a:chOff x="1883520" y="5016600"/>
              <a:chExt cx="328320" cy="291600"/>
            </a:xfrm>
          </p:grpSpPr>
          <p:sp>
            <p:nvSpPr>
              <p:cNvPr id="205" name="Freeform 46"/>
              <p:cNvSpPr/>
              <p:nvPr/>
            </p:nvSpPr>
            <p:spPr>
              <a:xfrm>
                <a:off x="1883520" y="5016600"/>
                <a:ext cx="328320" cy="14580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145800"/>
                  <a:gd name="textAreaBottom" fmla="*/ 146160 h 145800"/>
                </a:gdLst>
                <a:ahLst/>
                <a:cxnLst/>
                <a:rect l="textAreaLeft" t="textAreaTop" r="textAreaRight" b="textAreaBottom"/>
                <a:pathLst>
                  <a:path w="328613" h="146050">
                    <a:moveTo>
                      <a:pt x="0" y="54769"/>
                    </a:moveTo>
                    <a:cubicBezTo>
                      <a:pt x="0" y="24521"/>
                      <a:pt x="24521" y="0"/>
                      <a:pt x="54769" y="0"/>
                    </a:cubicBezTo>
                    <a:lnTo>
                      <a:pt x="273844" y="0"/>
                    </a:lnTo>
                    <a:cubicBezTo>
                      <a:pt x="304092" y="0"/>
                      <a:pt x="328613" y="24521"/>
                      <a:pt x="328613" y="54769"/>
                    </a:cubicBezTo>
                    <a:lnTo>
                      <a:pt x="328613" y="91281"/>
                    </a:lnTo>
                    <a:cubicBezTo>
                      <a:pt x="328613" y="121529"/>
                      <a:pt x="304092" y="146050"/>
                      <a:pt x="273844" y="146050"/>
                    </a:cubicBezTo>
                    <a:lnTo>
                      <a:pt x="54769" y="146050"/>
                    </a:lnTo>
                    <a:cubicBezTo>
                      <a:pt x="24521" y="146050"/>
                      <a:pt x="0" y="121529"/>
                      <a:pt x="0" y="91281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eform 47"/>
              <p:cNvSpPr/>
              <p:nvPr/>
            </p:nvSpPr>
            <p:spPr>
              <a:xfrm>
                <a:off x="1883520" y="5162400"/>
                <a:ext cx="328320" cy="145800"/>
              </a:xfrm>
              <a:custGeom>
                <a:avLst/>
                <a:gdLst>
                  <a:gd name="textAreaLeft" fmla="*/ 0 w 328320"/>
                  <a:gd name="textAreaRight" fmla="*/ 328680 w 328320"/>
                  <a:gd name="textAreaTop" fmla="*/ 0 h 145800"/>
                  <a:gd name="textAreaBottom" fmla="*/ 146160 h 145800"/>
                </a:gdLst>
                <a:ahLst/>
                <a:cxnLst/>
                <a:rect l="textAreaLeft" t="textAreaTop" r="textAreaRight" b="textAreaBottom"/>
                <a:pathLst>
                  <a:path w="328613" h="146050">
                    <a:moveTo>
                      <a:pt x="0" y="54769"/>
                    </a:moveTo>
                    <a:cubicBezTo>
                      <a:pt x="0" y="24521"/>
                      <a:pt x="24521" y="0"/>
                      <a:pt x="54769" y="0"/>
                    </a:cubicBezTo>
                    <a:lnTo>
                      <a:pt x="273844" y="0"/>
                    </a:lnTo>
                    <a:cubicBezTo>
                      <a:pt x="304092" y="0"/>
                      <a:pt x="328613" y="24521"/>
                      <a:pt x="328613" y="54769"/>
                    </a:cubicBezTo>
                    <a:lnTo>
                      <a:pt x="328613" y="91281"/>
                    </a:lnTo>
                    <a:cubicBezTo>
                      <a:pt x="328613" y="121529"/>
                      <a:pt x="304092" y="146050"/>
                      <a:pt x="273844" y="146050"/>
                    </a:cubicBezTo>
                    <a:lnTo>
                      <a:pt x="54769" y="146050"/>
                    </a:lnTo>
                    <a:cubicBezTo>
                      <a:pt x="24521" y="146050"/>
                      <a:pt x="0" y="121529"/>
                      <a:pt x="0" y="91281"/>
                    </a:cubicBezTo>
                    <a:lnTo>
                      <a:pt x="0" y="54769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eform 48"/>
              <p:cNvSpPr/>
              <p:nvPr/>
            </p:nvSpPr>
            <p:spPr>
              <a:xfrm>
                <a:off x="1956600" y="508968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0" y="183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eform 49"/>
              <p:cNvSpPr/>
              <p:nvPr/>
            </p:nvSpPr>
            <p:spPr>
              <a:xfrm>
                <a:off x="1956600" y="523548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0" y="183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9" name="TextBox 51"/>
            <p:cNvSpPr/>
            <p:nvPr/>
          </p:nvSpPr>
          <p:spPr>
            <a:xfrm>
              <a:off x="2426040" y="4912920"/>
              <a:ext cx="243720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Arial"/>
                </a:rPr>
                <a:t>tool-server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Box 52"/>
            <p:cNvSpPr/>
            <p:nvPr/>
          </p:nvSpPr>
          <p:spPr>
            <a:xfrm>
              <a:off x="2429280" y="5272920"/>
              <a:ext cx="52714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OS / PostgreSQL / eBPF /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受控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Bash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" name="Group 65"/>
          <p:cNvGrpSpPr/>
          <p:nvPr/>
        </p:nvGrpSpPr>
        <p:grpSpPr>
          <a:xfrm>
            <a:off x="9235800" y="2209680"/>
            <a:ext cx="2422440" cy="2230560"/>
            <a:chOff x="9235800" y="2209680"/>
            <a:chExt cx="2422440" cy="2230560"/>
          </a:xfrm>
        </p:grpSpPr>
        <p:sp>
          <p:nvSpPr>
            <p:cNvPr id="212" name="Rectangle 54"/>
            <p:cNvSpPr/>
            <p:nvPr/>
          </p:nvSpPr>
          <p:spPr>
            <a:xfrm>
              <a:off x="9810720" y="2209680"/>
              <a:ext cx="1847520" cy="1409400"/>
            </a:xfrm>
            <a:prstGeom prst="roundRect">
              <a:avLst>
                <a:gd name="adj" fmla="val 4054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custDash>
                <a:ds d="450000" sp="300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3" name="Group 60"/>
            <p:cNvGrpSpPr/>
            <p:nvPr/>
          </p:nvGrpSpPr>
          <p:grpSpPr>
            <a:xfrm>
              <a:off x="10420200" y="2458080"/>
              <a:ext cx="571320" cy="551520"/>
              <a:chOff x="10420200" y="2458080"/>
              <a:chExt cx="571320" cy="551520"/>
            </a:xfrm>
          </p:grpSpPr>
          <p:sp>
            <p:nvSpPr>
              <p:cNvPr id="214" name="Freeform 55"/>
              <p:cNvSpPr/>
              <p:nvPr/>
            </p:nvSpPr>
            <p:spPr>
              <a:xfrm>
                <a:off x="10449000" y="2952720"/>
                <a:ext cx="199800" cy="900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eform 56"/>
              <p:cNvSpPr/>
              <p:nvPr/>
            </p:nvSpPr>
            <p:spPr>
              <a:xfrm>
                <a:off x="10763280" y="2952720"/>
                <a:ext cx="199800" cy="900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6" name="Freeform 57"/>
              <p:cNvSpPr/>
              <p:nvPr/>
            </p:nvSpPr>
            <p:spPr>
              <a:xfrm>
                <a:off x="10648800" y="2895480"/>
                <a:ext cx="114120" cy="11412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14120"/>
                  <a:gd name="textAreaBottom" fmla="*/ 114480 h 114120"/>
                </a:gdLst>
                <a:ahLst/>
                <a:cxnLst/>
                <a:rect l="textAreaLeft" t="textAreaTop" r="textAreaRight" b="textAreaBottom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Freeform 58"/>
              <p:cNvSpPr/>
              <p:nvPr/>
            </p:nvSpPr>
            <p:spPr>
              <a:xfrm>
                <a:off x="10706040" y="2838600"/>
                <a:ext cx="9000" cy="5688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8" name="Freeform 59"/>
              <p:cNvSpPr/>
              <p:nvPr/>
            </p:nvSpPr>
            <p:spPr>
              <a:xfrm>
                <a:off x="10420200" y="2458080"/>
                <a:ext cx="571320" cy="380160"/>
              </a:xfrm>
              <a:custGeom>
                <a:avLst/>
                <a:gdLst>
                  <a:gd name="textAreaLeft" fmla="*/ 0 w 571320"/>
                  <a:gd name="textAreaRight" fmla="*/ 571680 w 571320"/>
                  <a:gd name="textAreaTop" fmla="*/ 0 h 380160"/>
                  <a:gd name="textAreaBottom" fmla="*/ 380520 h 380160"/>
                </a:gdLst>
                <a:ahLst/>
                <a:cxnLst/>
                <a:rect l="textAreaLeft" t="textAreaTop" r="textAreaRight" b="textAreaBottom"/>
                <a:pathLst>
                  <a:path w="571500" h="380448">
                    <a:moveTo>
                      <a:pt x="171450" y="380448"/>
                    </a:moveTo>
                    <a:lnTo>
                      <a:pt x="133074" y="380448"/>
                    </a:lnTo>
                    <a:cubicBezTo>
                      <a:pt x="59579" y="380333"/>
                      <a:pt x="0" y="322983"/>
                      <a:pt x="0" y="252232"/>
                    </a:cubicBezTo>
                    <a:cubicBezTo>
                      <a:pt x="0" y="181508"/>
                      <a:pt x="59579" y="124158"/>
                      <a:pt x="133074" y="124158"/>
                    </a:cubicBezTo>
                    <a:cubicBezTo>
                      <a:pt x="144304" y="73809"/>
                      <a:pt x="184337" y="32718"/>
                      <a:pt x="238087" y="16345"/>
                    </a:cubicBezTo>
                    <a:cubicBezTo>
                      <a:pt x="291808" y="0"/>
                      <a:pt x="351130" y="10830"/>
                      <a:pt x="393649" y="44920"/>
                    </a:cubicBezTo>
                    <a:cubicBezTo>
                      <a:pt x="436169" y="78924"/>
                      <a:pt x="455428" y="130845"/>
                      <a:pt x="444227" y="181194"/>
                    </a:cubicBezTo>
                    <a:lnTo>
                      <a:pt x="472516" y="181194"/>
                    </a:lnTo>
                    <a:cubicBezTo>
                      <a:pt x="527180" y="181194"/>
                      <a:pt x="571500" y="225771"/>
                      <a:pt x="571500" y="280807"/>
                    </a:cubicBezTo>
                    <a:cubicBezTo>
                      <a:pt x="571500" y="335871"/>
                      <a:pt x="527180" y="380448"/>
                      <a:pt x="472488" y="380448"/>
                    </a:cubicBezTo>
                    <a:lnTo>
                      <a:pt x="400050" y="380448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9" name="TextBox 61"/>
            <p:cNvSpPr/>
            <p:nvPr/>
          </p:nvSpPr>
          <p:spPr>
            <a:xfrm>
              <a:off x="9977760" y="3063240"/>
              <a:ext cx="1513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Cloud MCP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Box 62"/>
            <p:cNvSpPr/>
            <p:nvPr/>
          </p:nvSpPr>
          <p:spPr>
            <a:xfrm>
              <a:off x="9947880" y="3378600"/>
              <a:ext cx="1573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查询与运维扩展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Line 63"/>
            <p:cNvSpPr/>
            <p:nvPr/>
          </p:nvSpPr>
          <p:spPr>
            <a:xfrm flipV="1">
              <a:off x="9536400" y="3430800"/>
              <a:ext cx="400320" cy="1009440"/>
            </a:xfrm>
            <a:prstGeom prst="line">
              <a:avLst/>
            </a:prstGeom>
            <a:ln w="28575">
              <a:solidFill>
                <a:srgbClr val="7cb7ff"/>
              </a:solidFill>
              <a:custDash>
                <a:ds d="233000" sp="166000"/>
              </a:custDash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64"/>
            <p:cNvSpPr/>
            <p:nvPr/>
          </p:nvSpPr>
          <p:spPr>
            <a:xfrm rot="17520000">
              <a:off x="9010440" y="3729600"/>
              <a:ext cx="1024920" cy="20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NEW SERVER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3" name="Group 76"/>
          <p:cNvGrpSpPr/>
          <p:nvPr/>
        </p:nvGrpSpPr>
        <p:grpSpPr>
          <a:xfrm>
            <a:off x="9810720" y="4057560"/>
            <a:ext cx="2177280" cy="1632240"/>
            <a:chOff x="9810720" y="4057560"/>
            <a:chExt cx="2177280" cy="1632240"/>
          </a:xfrm>
        </p:grpSpPr>
        <p:sp>
          <p:nvSpPr>
            <p:cNvPr id="224" name="Rectangle 66"/>
            <p:cNvSpPr/>
            <p:nvPr/>
          </p:nvSpPr>
          <p:spPr>
            <a:xfrm>
              <a:off x="9810720" y="4057560"/>
              <a:ext cx="1847520" cy="1618920"/>
            </a:xfrm>
            <a:prstGeom prst="roundRect">
              <a:avLst>
                <a:gd name="adj" fmla="val 3529"/>
              </a:avLst>
            </a:prstGeom>
            <a:solidFill>
              <a:srgbClr val="18253a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5" name="Group 70"/>
            <p:cNvGrpSpPr/>
            <p:nvPr/>
          </p:nvGrpSpPr>
          <p:grpSpPr>
            <a:xfrm>
              <a:off x="10042560" y="4312440"/>
              <a:ext cx="240840" cy="271080"/>
              <a:chOff x="10042560" y="4312440"/>
              <a:chExt cx="240840" cy="271080"/>
            </a:xfrm>
          </p:grpSpPr>
          <p:sp>
            <p:nvSpPr>
              <p:cNvPr id="226" name="Freeform 67"/>
              <p:cNvSpPr/>
              <p:nvPr/>
            </p:nvSpPr>
            <p:spPr>
              <a:xfrm>
                <a:off x="10042560" y="4312440"/>
                <a:ext cx="240840" cy="90000"/>
              </a:xfrm>
              <a:custGeom>
                <a:avLst/>
                <a:gdLst>
                  <a:gd name="textAreaLeft" fmla="*/ 0 w 240840"/>
                  <a:gd name="textAreaRight" fmla="*/ 241200 w 2408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241299" h="90487">
                    <a:moveTo>
                      <a:pt x="0" y="45244"/>
                    </a:moveTo>
                    <a:cubicBezTo>
                      <a:pt x="0" y="70231"/>
                      <a:pt x="54017" y="90487"/>
                      <a:pt x="120650" y="90487"/>
                    </a:cubicBezTo>
                    <a:cubicBezTo>
                      <a:pt x="187283" y="90487"/>
                      <a:pt x="241299" y="70231"/>
                      <a:pt x="241299" y="45244"/>
                    </a:cubicBezTo>
                    <a:cubicBezTo>
                      <a:pt x="241299" y="20256"/>
                      <a:pt x="187283" y="0"/>
                      <a:pt x="120650" y="0"/>
                    </a:cubicBezTo>
                    <a:cubicBezTo>
                      <a:pt x="54017" y="0"/>
                      <a:pt x="0" y="20256"/>
                      <a:pt x="0" y="45244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eform 68"/>
              <p:cNvSpPr/>
              <p:nvPr/>
            </p:nvSpPr>
            <p:spPr>
              <a:xfrm>
                <a:off x="10042560" y="4357800"/>
                <a:ext cx="240840" cy="135360"/>
              </a:xfrm>
              <a:custGeom>
                <a:avLst/>
                <a:gdLst>
                  <a:gd name="textAreaLeft" fmla="*/ 0 w 240840"/>
                  <a:gd name="textAreaRight" fmla="*/ 241200 w 24084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8" name="Freeform 69"/>
              <p:cNvSpPr/>
              <p:nvPr/>
            </p:nvSpPr>
            <p:spPr>
              <a:xfrm>
                <a:off x="10042560" y="4448160"/>
                <a:ext cx="240840" cy="135360"/>
              </a:xfrm>
              <a:custGeom>
                <a:avLst/>
                <a:gdLst>
                  <a:gd name="textAreaLeft" fmla="*/ 0 w 240840"/>
                  <a:gd name="textAreaRight" fmla="*/ 241200 w 240840"/>
                  <a:gd name="textAreaTop" fmla="*/ 0 h 135360"/>
                  <a:gd name="textAreaBottom" fmla="*/ 135720 h 135360"/>
                </a:gdLst>
                <a:ahLst/>
                <a:cxnLst/>
                <a:rect l="textAreaLeft" t="textAreaTop" r="textAreaRight" b="textAreaBottom"/>
                <a:pathLst>
                  <a:path w="241299" h="135731">
                    <a:moveTo>
                      <a:pt x="0" y="0"/>
                    </a:moveTo>
                    <a:lnTo>
                      <a:pt x="0" y="90487"/>
                    </a:lnTo>
                    <a:cubicBezTo>
                      <a:pt x="0" y="115475"/>
                      <a:pt x="54017" y="135731"/>
                      <a:pt x="120650" y="135731"/>
                    </a:cubicBezTo>
                    <a:cubicBezTo>
                      <a:pt x="187283" y="135731"/>
                      <a:pt x="241299" y="115475"/>
                      <a:pt x="241299" y="90487"/>
                    </a:cubicBezTo>
                    <a:lnTo>
                      <a:pt x="241299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9" name="TextBox 71"/>
            <p:cNvSpPr/>
            <p:nvPr/>
          </p:nvSpPr>
          <p:spPr>
            <a:xfrm>
              <a:off x="10411200" y="4330080"/>
              <a:ext cx="117216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Arial"/>
                </a:rPr>
                <a:t>PostgreSQL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TextBox 72"/>
            <p:cNvSpPr/>
            <p:nvPr/>
          </p:nvSpPr>
          <p:spPr>
            <a:xfrm>
              <a:off x="9975240" y="4750200"/>
              <a:ext cx="1607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会话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工具调用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TextBox 73"/>
            <p:cNvSpPr/>
            <p:nvPr/>
          </p:nvSpPr>
          <p:spPr>
            <a:xfrm>
              <a:off x="9975240" y="5026320"/>
              <a:ext cx="1848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审计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LLM trace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Freeform 74"/>
            <p:cNvSpPr/>
            <p:nvPr/>
          </p:nvSpPr>
          <p:spPr>
            <a:xfrm>
              <a:off x="9982080" y="5334120"/>
              <a:ext cx="1504440" cy="9000"/>
            </a:xfrm>
            <a:custGeom>
              <a:avLst/>
              <a:gdLst>
                <a:gd name="textAreaLeft" fmla="*/ 0 w 1504440"/>
                <a:gd name="textAreaRight" fmla="*/ 1504800 w 15044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504950" h="9525">
                  <a:moveTo>
                    <a:pt x="0" y="0"/>
                  </a:moveTo>
                  <a:lnTo>
                    <a:pt x="150495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TextBox 75"/>
            <p:cNvSpPr/>
            <p:nvPr/>
          </p:nvSpPr>
          <p:spPr>
            <a:xfrm>
              <a:off x="9975240" y="5426280"/>
              <a:ext cx="20127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MODEL AS SIDECAR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" name="Group 79"/>
          <p:cNvGrpSpPr/>
          <p:nvPr/>
        </p:nvGrpSpPr>
        <p:grpSpPr>
          <a:xfrm>
            <a:off x="526680" y="6274080"/>
            <a:ext cx="11138400" cy="263520"/>
            <a:chOff x="526680" y="6274080"/>
            <a:chExt cx="11138400" cy="263520"/>
          </a:xfrm>
        </p:grpSpPr>
        <p:sp>
          <p:nvSpPr>
            <p:cNvPr id="235" name="TextBox 77"/>
            <p:cNvSpPr/>
            <p:nvPr/>
          </p:nvSpPr>
          <p:spPr>
            <a:xfrm>
              <a:off x="526680" y="6274080"/>
              <a:ext cx="770724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B/S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架构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· LoongArch/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麒麟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V11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部署流程已具备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·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新增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MCP Server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即可扩展云资源查询与运维。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78"/>
            <p:cNvSpPr/>
            <p:nvPr/>
          </p:nvSpPr>
          <p:spPr>
            <a:xfrm>
              <a:off x="10905120" y="627408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03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238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0" name="Group 8"/>
          <p:cNvGrpSpPr/>
          <p:nvPr/>
        </p:nvGrpSpPr>
        <p:grpSpPr>
          <a:xfrm>
            <a:off x="514440" y="235440"/>
            <a:ext cx="10229400" cy="1572120"/>
            <a:chOff x="514440" y="235440"/>
            <a:chExt cx="10229400" cy="1572120"/>
          </a:xfrm>
        </p:grpSpPr>
        <p:sp>
          <p:nvSpPr>
            <p:cNvPr id="241" name="TextBox 5"/>
            <p:cNvSpPr/>
            <p:nvPr/>
          </p:nvSpPr>
          <p:spPr>
            <a:xfrm>
              <a:off x="526680" y="235440"/>
              <a:ext cx="4638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LOOP-01 / CONTROLLED REASONING CYCLE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TextBox 6"/>
            <p:cNvSpPr/>
            <p:nvPr/>
          </p:nvSpPr>
          <p:spPr>
            <a:xfrm>
              <a:off x="514440" y="493560"/>
              <a:ext cx="1022940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Segoe UI"/>
                </a:rPr>
                <a:t>Think → Review → Act → Observe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TextBox 7"/>
            <p:cNvSpPr/>
            <p:nvPr/>
          </p:nvSpPr>
          <p:spPr>
            <a:xfrm>
              <a:off x="514440" y="1045800"/>
              <a:ext cx="882684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7cb7ff"/>
                  </a:solidFill>
                  <a:effectLst/>
                  <a:uFillTx/>
                  <a:latin typeface="Segoe UI"/>
                  <a:ea typeface="Microsoft YaHei"/>
                </a:rPr>
                <a:t>把诊断、审批和证据串成闭环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4" name="Group 17"/>
          <p:cNvGrpSpPr/>
          <p:nvPr/>
        </p:nvGrpSpPr>
        <p:grpSpPr>
          <a:xfrm>
            <a:off x="3143160" y="1790640"/>
            <a:ext cx="5905080" cy="3828600"/>
            <a:chOff x="3143160" y="1790640"/>
            <a:chExt cx="5905080" cy="3828600"/>
          </a:xfrm>
        </p:grpSpPr>
        <p:sp>
          <p:nvSpPr>
            <p:cNvPr id="245" name="Freeform 9"/>
            <p:cNvSpPr/>
            <p:nvPr/>
          </p:nvSpPr>
          <p:spPr>
            <a:xfrm>
              <a:off x="4438800" y="1790640"/>
              <a:ext cx="3314520" cy="590040"/>
            </a:xfrm>
            <a:custGeom>
              <a:avLst/>
              <a:gdLst>
                <a:gd name="textAreaLeft" fmla="*/ 0 w 3314520"/>
                <a:gd name="textAreaRight" fmla="*/ 3314880 w 33145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3314700" h="590550">
                  <a:moveTo>
                    <a:pt x="0" y="590550"/>
                  </a:moveTo>
                  <a:cubicBezTo>
                    <a:pt x="704850" y="0"/>
                    <a:pt x="2609850" y="0"/>
                    <a:pt x="3314700" y="590550"/>
                  </a:cubicBezTo>
                </a:path>
              </a:pathLst>
            </a:custGeom>
            <a:noFill/>
            <a:ln w="3810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Polygon 10"/>
            <p:cNvSpPr/>
            <p:nvPr/>
          </p:nvSpPr>
          <p:spPr>
            <a:xfrm>
              <a:off x="7667640" y="2266920"/>
              <a:ext cx="237600" cy="26640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238125" h="266700">
                  <a:moveTo>
                    <a:pt x="0" y="0"/>
                  </a:moveTo>
                  <a:lnTo>
                    <a:pt x="238125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7cb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11"/>
            <p:cNvSpPr/>
            <p:nvPr/>
          </p:nvSpPr>
          <p:spPr>
            <a:xfrm>
              <a:off x="8458200" y="3048120"/>
              <a:ext cx="590040" cy="1466640"/>
            </a:xfrm>
            <a:custGeom>
              <a:avLst/>
              <a:gdLst>
                <a:gd name="textAreaLeft" fmla="*/ 0 w 590040"/>
                <a:gd name="textAreaRight" fmla="*/ 590400 w 590040"/>
                <a:gd name="textAreaTop" fmla="*/ 0 h 1466640"/>
                <a:gd name="textAreaBottom" fmla="*/ 1467000 h 1466640"/>
              </a:gdLst>
              <a:ahLst/>
              <a:cxnLst/>
              <a:rect l="textAreaLeft" t="textAreaTop" r="textAreaRight" b="textAreaBottom"/>
              <a:pathLst>
                <a:path w="590550" h="1466850">
                  <a:moveTo>
                    <a:pt x="0" y="0"/>
                  </a:moveTo>
                  <a:cubicBezTo>
                    <a:pt x="590550" y="381000"/>
                    <a:pt x="590550" y="1085850"/>
                    <a:pt x="0" y="1466850"/>
                  </a:cubicBezTo>
                </a:path>
              </a:pathLst>
            </a:custGeom>
            <a:noFill/>
            <a:ln w="3810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Polygon 12"/>
            <p:cNvSpPr/>
            <p:nvPr/>
          </p:nvSpPr>
          <p:spPr>
            <a:xfrm>
              <a:off x="8344080" y="4419720"/>
              <a:ext cx="228240" cy="26640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228600" h="266700">
                  <a:moveTo>
                    <a:pt x="0" y="0"/>
                  </a:moveTo>
                  <a:lnTo>
                    <a:pt x="228600" y="13335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rgbClr val="ffb8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eform 13"/>
            <p:cNvSpPr/>
            <p:nvPr/>
          </p:nvSpPr>
          <p:spPr>
            <a:xfrm>
              <a:off x="4438800" y="5029200"/>
              <a:ext cx="3314520" cy="590040"/>
            </a:xfrm>
            <a:custGeom>
              <a:avLst/>
              <a:gdLst>
                <a:gd name="textAreaLeft" fmla="*/ 0 w 3314520"/>
                <a:gd name="textAreaRight" fmla="*/ 3314880 w 3314520"/>
                <a:gd name="textAreaTop" fmla="*/ 0 h 590040"/>
                <a:gd name="textAreaBottom" fmla="*/ 590400 h 590040"/>
              </a:gdLst>
              <a:ahLst/>
              <a:cxnLst/>
              <a:rect l="textAreaLeft" t="textAreaTop" r="textAreaRight" b="textAreaBottom"/>
              <a:pathLst>
                <a:path w="3314700" h="590550">
                  <a:moveTo>
                    <a:pt x="3314700" y="0"/>
                  </a:moveTo>
                  <a:cubicBezTo>
                    <a:pt x="2609850" y="590550"/>
                    <a:pt x="704850" y="590550"/>
                    <a:pt x="0" y="0"/>
                  </a:cubicBezTo>
                </a:path>
              </a:pathLst>
            </a:custGeom>
            <a:noFill/>
            <a:ln w="3810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Polygon 14"/>
            <p:cNvSpPr/>
            <p:nvPr/>
          </p:nvSpPr>
          <p:spPr>
            <a:xfrm>
              <a:off x="4305240" y="4915080"/>
              <a:ext cx="237600" cy="266400"/>
            </a:xfrm>
            <a:custGeom>
              <a:avLst/>
              <a:gdLst>
                <a:gd name="textAreaLeft" fmla="*/ 0 w 237600"/>
                <a:gd name="textAreaRight" fmla="*/ 237960 w 23760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238125" h="266700">
                  <a:moveTo>
                    <a:pt x="238125" y="0"/>
                  </a:moveTo>
                  <a:lnTo>
                    <a:pt x="0" y="133350"/>
                  </a:lnTo>
                  <a:lnTo>
                    <a:pt x="238125" y="266700"/>
                  </a:lnTo>
                  <a:close/>
                </a:path>
              </a:pathLst>
            </a:custGeom>
            <a:solidFill>
              <a:srgbClr val="5fe0c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Freeform 15"/>
            <p:cNvSpPr/>
            <p:nvPr/>
          </p:nvSpPr>
          <p:spPr>
            <a:xfrm>
              <a:off x="3143160" y="3048120"/>
              <a:ext cx="590040" cy="1466640"/>
            </a:xfrm>
            <a:custGeom>
              <a:avLst/>
              <a:gdLst>
                <a:gd name="textAreaLeft" fmla="*/ 0 w 590040"/>
                <a:gd name="textAreaRight" fmla="*/ 590400 w 590040"/>
                <a:gd name="textAreaTop" fmla="*/ 0 h 1466640"/>
                <a:gd name="textAreaBottom" fmla="*/ 1467000 h 1466640"/>
              </a:gdLst>
              <a:ahLst/>
              <a:cxnLst/>
              <a:rect l="textAreaLeft" t="textAreaTop" r="textAreaRight" b="textAreaBottom"/>
              <a:pathLst>
                <a:path w="590550" h="1466850">
                  <a:moveTo>
                    <a:pt x="590550" y="1466850"/>
                  </a:moveTo>
                  <a:cubicBezTo>
                    <a:pt x="0" y="1085850"/>
                    <a:pt x="0" y="381000"/>
                    <a:pt x="590550" y="0"/>
                  </a:cubicBezTo>
                </a:path>
              </a:pathLst>
            </a:custGeom>
            <a:noFill/>
            <a:ln w="3810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Polygon 16"/>
            <p:cNvSpPr/>
            <p:nvPr/>
          </p:nvSpPr>
          <p:spPr>
            <a:xfrm>
              <a:off x="3619440" y="2876400"/>
              <a:ext cx="228240" cy="266400"/>
            </a:xfrm>
            <a:custGeom>
              <a:avLst/>
              <a:gdLst>
                <a:gd name="textAreaLeft" fmla="*/ 0 w 228240"/>
                <a:gd name="textAreaRight" fmla="*/ 228600 w 2282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228600" h="266700">
                  <a:moveTo>
                    <a:pt x="228600" y="266700"/>
                  </a:moveTo>
                  <a:lnTo>
                    <a:pt x="0" y="13335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7cb7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3" name="Group 28"/>
          <p:cNvGrpSpPr/>
          <p:nvPr/>
        </p:nvGrpSpPr>
        <p:grpSpPr>
          <a:xfrm>
            <a:off x="3009960" y="1924200"/>
            <a:ext cx="2667600" cy="1104480"/>
            <a:chOff x="3009960" y="1924200"/>
            <a:chExt cx="2667600" cy="1104480"/>
          </a:xfrm>
        </p:grpSpPr>
        <p:sp>
          <p:nvSpPr>
            <p:cNvPr id="254" name="Rectangle 18"/>
            <p:cNvSpPr/>
            <p:nvPr/>
          </p:nvSpPr>
          <p:spPr>
            <a:xfrm>
              <a:off x="3009960" y="1924200"/>
              <a:ext cx="2342880" cy="1104480"/>
            </a:xfrm>
            <a:prstGeom prst="roundRect">
              <a:avLst>
                <a:gd name="adj" fmla="val 5172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5" name="Group 25"/>
            <p:cNvGrpSpPr/>
            <p:nvPr/>
          </p:nvGrpSpPr>
          <p:grpSpPr>
            <a:xfrm>
              <a:off x="3276720" y="2209680"/>
              <a:ext cx="342720" cy="342720"/>
              <a:chOff x="3276720" y="2209680"/>
              <a:chExt cx="342720" cy="342720"/>
            </a:xfrm>
          </p:grpSpPr>
          <p:sp>
            <p:nvSpPr>
              <p:cNvPr id="256" name="Freeform 19"/>
              <p:cNvSpPr/>
              <p:nvPr/>
            </p:nvSpPr>
            <p:spPr>
              <a:xfrm>
                <a:off x="3448080" y="2400480"/>
                <a:ext cx="132840" cy="15192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133350" h="15240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lnTo>
                      <a:pt x="0" y="85725"/>
                    </a:lnTo>
                    <a:cubicBezTo>
                      <a:pt x="0" y="122549"/>
                      <a:pt x="29851" y="152400"/>
                      <a:pt x="66675" y="152400"/>
                    </a:cubicBezTo>
                    <a:cubicBezTo>
                      <a:pt x="103499" y="152400"/>
                      <a:pt x="133350" y="122549"/>
                      <a:pt x="133350" y="85725"/>
                    </a:cubicBezTo>
                    <a:lnTo>
                      <a:pt x="133350" y="5143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eform 20"/>
              <p:cNvSpPr/>
              <p:nvPr/>
            </p:nvSpPr>
            <p:spPr>
              <a:xfrm>
                <a:off x="3314880" y="2400480"/>
                <a:ext cx="132840" cy="15192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133350" h="152400">
                    <a:moveTo>
                      <a:pt x="66675" y="0"/>
                    </a:move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85725"/>
                    </a:lnTo>
                    <a:cubicBezTo>
                      <a:pt x="133350" y="122549"/>
                      <a:pt x="103499" y="152400"/>
                      <a:pt x="66675" y="152400"/>
                    </a:cubicBezTo>
                    <a:cubicBezTo>
                      <a:pt x="29851" y="152400"/>
                      <a:pt x="0" y="122549"/>
                      <a:pt x="0" y="85725"/>
                    </a:cubicBezTo>
                    <a:lnTo>
                      <a:pt x="0" y="5143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8" name="Freeform 21"/>
              <p:cNvSpPr/>
              <p:nvPr/>
            </p:nvSpPr>
            <p:spPr>
              <a:xfrm>
                <a:off x="3543480" y="2324160"/>
                <a:ext cx="75960" cy="1328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132840"/>
                  <a:gd name="textAreaBottom" fmla="*/ 133200 h 132840"/>
                </a:gdLst>
                <a:ahLst/>
                <a:cxnLst/>
                <a:rect l="textAreaLeft" t="textAreaTop" r="textAreaRight" b="textAreaBottom"/>
                <a:pathLst>
                  <a:path w="76200" h="133350">
                    <a:moveTo>
                      <a:pt x="9525" y="133350"/>
                    </a:moveTo>
                    <a:cubicBezTo>
                      <a:pt x="46349" y="133350"/>
                      <a:pt x="76200" y="103499"/>
                      <a:pt x="76200" y="66675"/>
                    </a:cubicBezTo>
                    <a:cubicBezTo>
                      <a:pt x="76200" y="29851"/>
                      <a:pt x="46349" y="0"/>
                      <a:pt x="952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9" name="Freeform 22"/>
              <p:cNvSpPr/>
              <p:nvPr/>
            </p:nvSpPr>
            <p:spPr>
              <a:xfrm>
                <a:off x="3448080" y="2209680"/>
                <a:ext cx="132840" cy="11952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119520"/>
                  <a:gd name="textAreaBottom" fmla="*/ 119880 h 119520"/>
                </a:gdLst>
                <a:ahLst/>
                <a:cxnLst/>
                <a:rect l="textAreaLeft" t="textAreaTop" r="textAreaRight" b="textAreaBottom"/>
                <a:pathLst>
                  <a:path w="133350" h="120015">
                    <a:moveTo>
                      <a:pt x="133350" y="120015"/>
                    </a:moveTo>
                    <a:lnTo>
                      <a:pt x="133350" y="66675"/>
                    </a:ln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Freeform 23"/>
              <p:cNvSpPr/>
              <p:nvPr/>
            </p:nvSpPr>
            <p:spPr>
              <a:xfrm>
                <a:off x="3276720" y="2324160"/>
                <a:ext cx="75960" cy="1328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132840"/>
                  <a:gd name="textAreaBottom" fmla="*/ 133200 h 132840"/>
                </a:gdLst>
                <a:ahLst/>
                <a:cxnLst/>
                <a:rect l="textAreaLeft" t="textAreaTop" r="textAreaRight" b="textAreaBottom"/>
                <a:pathLst>
                  <a:path w="76200" h="133350">
                    <a:moveTo>
                      <a:pt x="66675" y="133350"/>
                    </a:move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1" name="Freeform 24"/>
              <p:cNvSpPr/>
              <p:nvPr/>
            </p:nvSpPr>
            <p:spPr>
              <a:xfrm>
                <a:off x="3314880" y="2209680"/>
                <a:ext cx="132840" cy="256680"/>
              </a:xfrm>
              <a:custGeom>
                <a:avLst/>
                <a:gdLst>
                  <a:gd name="textAreaLeft" fmla="*/ 0 w 132840"/>
                  <a:gd name="textAreaRight" fmla="*/ 133200 w 132840"/>
                  <a:gd name="textAreaTop" fmla="*/ 0 h 256680"/>
                  <a:gd name="textAreaBottom" fmla="*/ 257040 h 256680"/>
                </a:gdLst>
                <a:ahLst/>
                <a:cxnLst/>
                <a:rect l="textAreaLeft" t="textAreaTop" r="textAreaRight" b="textAreaBottom"/>
                <a:pathLst>
                  <a:path w="133350" h="257175">
                    <a:moveTo>
                      <a:pt x="0" y="120015"/>
                    </a:move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25717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62" name="TextBox 26"/>
            <p:cNvSpPr/>
            <p:nvPr/>
          </p:nvSpPr>
          <p:spPr>
            <a:xfrm>
              <a:off x="3815280" y="2147040"/>
              <a:ext cx="1269360" cy="52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7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THINK</a:t>
              </a:r>
              <a:endPara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TextBox 27"/>
            <p:cNvSpPr/>
            <p:nvPr/>
          </p:nvSpPr>
          <p:spPr>
            <a:xfrm>
              <a:off x="3212640" y="2654640"/>
              <a:ext cx="246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理解目标，规划所需证据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4" name="Group 37"/>
          <p:cNvGrpSpPr/>
          <p:nvPr/>
        </p:nvGrpSpPr>
        <p:grpSpPr>
          <a:xfrm>
            <a:off x="6838920" y="1924200"/>
            <a:ext cx="2776680" cy="1104480"/>
            <a:chOff x="6838920" y="1924200"/>
            <a:chExt cx="2776680" cy="1104480"/>
          </a:xfrm>
        </p:grpSpPr>
        <p:sp>
          <p:nvSpPr>
            <p:cNvPr id="265" name="Rectangle 29"/>
            <p:cNvSpPr/>
            <p:nvPr/>
          </p:nvSpPr>
          <p:spPr>
            <a:xfrm>
              <a:off x="6838920" y="1924200"/>
              <a:ext cx="2342880" cy="1104480"/>
            </a:xfrm>
            <a:prstGeom prst="roundRect">
              <a:avLst>
                <a:gd name="adj" fmla="val 5172"/>
              </a:avLst>
            </a:prstGeom>
            <a:solidFill>
              <a:srgbClr val="132238"/>
            </a:solidFill>
            <a:ln w="28575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6" name="Group 34"/>
            <p:cNvGrpSpPr/>
            <p:nvPr/>
          </p:nvGrpSpPr>
          <p:grpSpPr>
            <a:xfrm>
              <a:off x="7143840" y="2209680"/>
              <a:ext cx="304560" cy="342720"/>
              <a:chOff x="7143840" y="2209680"/>
              <a:chExt cx="304560" cy="342720"/>
            </a:xfrm>
          </p:grpSpPr>
          <p:sp>
            <p:nvSpPr>
              <p:cNvPr id="267" name="Freeform 30"/>
              <p:cNvSpPr/>
              <p:nvPr/>
            </p:nvSpPr>
            <p:spPr>
              <a:xfrm>
                <a:off x="7143840" y="2362320"/>
                <a:ext cx="266400" cy="19008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190080"/>
                  <a:gd name="textAreaBottom" fmla="*/ 190440 h 190080"/>
                </a:gdLst>
                <a:ahLst/>
                <a:cxnLst/>
                <a:rect l="textAreaLeft" t="textAreaTop" r="textAreaRight" b="textAreaBottom"/>
                <a:pathLst>
                  <a:path w="266700" h="190500">
                    <a:moveTo>
                      <a:pt x="123825" y="190500"/>
                    </a:moveTo>
                    <a:lnTo>
                      <a:pt x="38100" y="190500"/>
                    </a:lnTo>
                    <a:cubicBezTo>
                      <a:pt x="17058" y="190500"/>
                      <a:pt x="0" y="173442"/>
                      <a:pt x="0" y="1524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228600" y="0"/>
                    </a:lnTo>
                    <a:cubicBezTo>
                      <a:pt x="249642" y="0"/>
                      <a:pt x="266700" y="17058"/>
                      <a:pt x="266700" y="38100"/>
                    </a:cubicBezTo>
                    <a:lnTo>
                      <a:pt x="266700" y="47625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Freeform 31"/>
              <p:cNvSpPr/>
              <p:nvPr/>
            </p:nvSpPr>
            <p:spPr>
              <a:xfrm>
                <a:off x="7257960" y="2438280"/>
                <a:ext cx="37800" cy="37800"/>
              </a:xfrm>
              <a:custGeom>
                <a:avLst/>
                <a:gdLst>
                  <a:gd name="textAreaLeft" fmla="*/ 0 w 37800"/>
                  <a:gd name="textAreaRight" fmla="*/ 38160 w 37800"/>
                  <a:gd name="textAreaTop" fmla="*/ 0 h 37800"/>
                  <a:gd name="textAreaBottom" fmla="*/ 38160 h 3780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6840" bIns="-68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9" name="Freeform 32"/>
              <p:cNvSpPr/>
              <p:nvPr/>
            </p:nvSpPr>
            <p:spPr>
              <a:xfrm>
                <a:off x="7201080" y="2209680"/>
                <a:ext cx="151920" cy="15192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151920"/>
                  <a:gd name="textAreaBottom" fmla="*/ 152280 h 151920"/>
                </a:gdLst>
                <a:ahLst/>
                <a:cxnLst/>
                <a:rect l="textAreaLeft" t="textAreaTop" r="textAreaRight" b="textAreaBottom"/>
                <a:pathLst>
                  <a:path w="152400" h="152400">
                    <a:moveTo>
                      <a:pt x="0" y="1524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lnTo>
                      <a:pt x="152400" y="15240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0" name="Freeform 33"/>
              <p:cNvSpPr/>
              <p:nvPr/>
            </p:nvSpPr>
            <p:spPr>
              <a:xfrm>
                <a:off x="7334280" y="2476440"/>
                <a:ext cx="114120" cy="7596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75960"/>
                  <a:gd name="textAreaBottom" fmla="*/ 76320 h 75960"/>
                </a:gdLst>
                <a:ahLst/>
                <a:cxnLst/>
                <a:rect l="textAreaLeft" t="textAreaTop" r="textAreaRight" b="textAreaBottom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1320" bIns="313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1" name="TextBox 35"/>
            <p:cNvSpPr/>
            <p:nvPr/>
          </p:nvSpPr>
          <p:spPr>
            <a:xfrm>
              <a:off x="7644240" y="2147040"/>
              <a:ext cx="1641960" cy="52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7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REVIEW</a:t>
              </a:r>
              <a:endPara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TextBox 36"/>
            <p:cNvSpPr/>
            <p:nvPr/>
          </p:nvSpPr>
          <p:spPr>
            <a:xfrm>
              <a:off x="6927480" y="2654640"/>
              <a:ext cx="26881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分类、规则判断与审批决策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3" name="Group 44"/>
          <p:cNvGrpSpPr/>
          <p:nvPr/>
        </p:nvGrpSpPr>
        <p:grpSpPr>
          <a:xfrm>
            <a:off x="3009960" y="4400640"/>
            <a:ext cx="2844720" cy="1104480"/>
            <a:chOff x="3009960" y="4400640"/>
            <a:chExt cx="2844720" cy="1104480"/>
          </a:xfrm>
        </p:grpSpPr>
        <p:sp>
          <p:nvSpPr>
            <p:cNvPr id="274" name="Rectangle 38"/>
            <p:cNvSpPr/>
            <p:nvPr/>
          </p:nvSpPr>
          <p:spPr>
            <a:xfrm>
              <a:off x="3009960" y="4400640"/>
              <a:ext cx="2342880" cy="1104480"/>
            </a:xfrm>
            <a:prstGeom prst="roundRect">
              <a:avLst>
                <a:gd name="adj" fmla="val 5172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75" name="Group 41"/>
            <p:cNvGrpSpPr/>
            <p:nvPr/>
          </p:nvGrpSpPr>
          <p:grpSpPr>
            <a:xfrm>
              <a:off x="3276720" y="4743360"/>
              <a:ext cx="342720" cy="228240"/>
              <a:chOff x="3276720" y="4743360"/>
              <a:chExt cx="342720" cy="228240"/>
            </a:xfrm>
          </p:grpSpPr>
          <p:sp>
            <p:nvSpPr>
              <p:cNvPr id="276" name="Freeform 39"/>
              <p:cNvSpPr/>
              <p:nvPr/>
            </p:nvSpPr>
            <p:spPr>
              <a:xfrm>
                <a:off x="3409920" y="4819680"/>
                <a:ext cx="75960" cy="7596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75960"/>
                  <a:gd name="textAreaBottom" fmla="*/ 76320 h 75960"/>
                </a:gdLst>
                <a:ahLst/>
                <a:cxnLst/>
                <a:rect l="textAreaLeft" t="textAreaTop" r="textAreaRight" b="textAreaBottom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1320" bIns="313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eform 40"/>
              <p:cNvSpPr/>
              <p:nvPr/>
            </p:nvSpPr>
            <p:spPr>
              <a:xfrm>
                <a:off x="3276720" y="4743360"/>
                <a:ext cx="342720" cy="228240"/>
              </a:xfrm>
              <a:custGeom>
                <a:avLst/>
                <a:gdLst>
                  <a:gd name="textAreaLeft" fmla="*/ 0 w 342720"/>
                  <a:gd name="textAreaRight" fmla="*/ 343080 w 342720"/>
                  <a:gd name="textAreaTop" fmla="*/ 0 h 228240"/>
                  <a:gd name="textAreaBottom" fmla="*/ 228600 h 228240"/>
                </a:gdLst>
                <a:ahLst/>
                <a:cxnLst/>
                <a:rect l="textAreaLeft" t="textAreaTop" r="textAreaRight" b="textAreaBottom"/>
                <a:pathLst>
                  <a:path w="342900" h="228600">
                    <a:moveTo>
                      <a:pt x="342900" y="114300"/>
                    </a:moveTo>
                    <a:cubicBezTo>
                      <a:pt x="297180" y="190500"/>
                      <a:pt x="240030" y="228600"/>
                      <a:pt x="171450" y="228600"/>
                    </a:cubicBezTo>
                    <a:cubicBezTo>
                      <a:pt x="102870" y="228600"/>
                      <a:pt x="45720" y="190500"/>
                      <a:pt x="0" y="114300"/>
                    </a:cubicBezTo>
                    <a:cubicBezTo>
                      <a:pt x="45720" y="38100"/>
                      <a:pt x="102870" y="0"/>
                      <a:pt x="171450" y="0"/>
                    </a:cubicBezTo>
                    <a:cubicBezTo>
                      <a:pt x="240030" y="0"/>
                      <a:pt x="297180" y="38100"/>
                      <a:pt x="342900" y="114300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78" name="TextBox 42"/>
            <p:cNvSpPr/>
            <p:nvPr/>
          </p:nvSpPr>
          <p:spPr>
            <a:xfrm>
              <a:off x="3815280" y="4623480"/>
              <a:ext cx="2039400" cy="52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7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OBSERVE</a:t>
              </a:r>
              <a:endPara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TextBox 43"/>
            <p:cNvSpPr/>
            <p:nvPr/>
          </p:nvSpPr>
          <p:spPr>
            <a:xfrm>
              <a:off x="3212640" y="5131080"/>
              <a:ext cx="1928160" cy="18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2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结果进入下一轮推理与 </a:t>
              </a:r>
              <a:r>
                <a:rPr lang="en-US" sz="12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RCA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0" name="Group 52"/>
          <p:cNvGrpSpPr/>
          <p:nvPr/>
        </p:nvGrpSpPr>
        <p:grpSpPr>
          <a:xfrm>
            <a:off x="6838920" y="4400640"/>
            <a:ext cx="2999520" cy="1104480"/>
            <a:chOff x="6838920" y="4400640"/>
            <a:chExt cx="2999520" cy="1104480"/>
          </a:xfrm>
        </p:grpSpPr>
        <p:sp>
          <p:nvSpPr>
            <p:cNvPr id="281" name="Rectangle 45"/>
            <p:cNvSpPr/>
            <p:nvPr/>
          </p:nvSpPr>
          <p:spPr>
            <a:xfrm>
              <a:off x="6838920" y="4400640"/>
              <a:ext cx="2342880" cy="1104480"/>
            </a:xfrm>
            <a:prstGeom prst="roundRect">
              <a:avLst>
                <a:gd name="adj" fmla="val 5172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2" name="Group 49"/>
            <p:cNvGrpSpPr/>
            <p:nvPr/>
          </p:nvGrpSpPr>
          <p:grpSpPr>
            <a:xfrm>
              <a:off x="7105680" y="4705200"/>
              <a:ext cx="342720" cy="304560"/>
              <a:chOff x="7105680" y="4705200"/>
              <a:chExt cx="342720" cy="304560"/>
            </a:xfrm>
          </p:grpSpPr>
          <p:sp>
            <p:nvSpPr>
              <p:cNvPr id="283" name="Freeform 46"/>
              <p:cNvSpPr/>
              <p:nvPr/>
            </p:nvSpPr>
            <p:spPr>
              <a:xfrm>
                <a:off x="7201080" y="4800600"/>
                <a:ext cx="56880" cy="11412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114120"/>
                  <a:gd name="textAreaBottom" fmla="*/ 114480 h 114120"/>
                </a:gdLst>
                <a:ahLst/>
                <a:cxnLst/>
                <a:rect l="textAreaLeft" t="textAreaTop" r="textAreaRight" b="textAreaBottom"/>
                <a:pathLst>
                  <a:path w="57150" h="114300">
                    <a:moveTo>
                      <a:pt x="0" y="0"/>
                    </a:moveTo>
                    <a:lnTo>
                      <a:pt x="5715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eform 47"/>
              <p:cNvSpPr/>
              <p:nvPr/>
            </p:nvSpPr>
            <p:spPr>
              <a:xfrm>
                <a:off x="7296120" y="4915080"/>
                <a:ext cx="56880" cy="9000"/>
              </a:xfrm>
              <a:custGeom>
                <a:avLst/>
                <a:gdLst>
                  <a:gd name="textAreaLeft" fmla="*/ 0 w 56880"/>
                  <a:gd name="textAreaRight" fmla="*/ 57240 w 5688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eform 48"/>
              <p:cNvSpPr/>
              <p:nvPr/>
            </p:nvSpPr>
            <p:spPr>
              <a:xfrm>
                <a:off x="7105680" y="4705200"/>
                <a:ext cx="342720" cy="304560"/>
              </a:xfrm>
              <a:custGeom>
                <a:avLst/>
                <a:gdLst>
                  <a:gd name="textAreaLeft" fmla="*/ 0 w 342720"/>
                  <a:gd name="textAreaRight" fmla="*/ 343080 w 342720"/>
                  <a:gd name="textAreaTop" fmla="*/ 0 h 304560"/>
                  <a:gd name="textAreaBottom" fmla="*/ 304920 h 304560"/>
                </a:gdLst>
                <a:ahLst/>
                <a:cxnLst/>
                <a:rect l="textAreaLeft" t="textAreaTop" r="textAreaRight" b="textAreaBottom"/>
                <a:pathLst>
                  <a:path w="3429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304800" y="0"/>
                    </a:lnTo>
                    <a:cubicBezTo>
                      <a:pt x="325842" y="0"/>
                      <a:pt x="342900" y="17058"/>
                      <a:pt x="342900" y="38100"/>
                    </a:cubicBezTo>
                    <a:lnTo>
                      <a:pt x="342900" y="266700"/>
                    </a:lnTo>
                    <a:cubicBezTo>
                      <a:pt x="342900" y="287742"/>
                      <a:pt x="325842" y="304800"/>
                      <a:pt x="3048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TextBox 50"/>
            <p:cNvSpPr/>
            <p:nvPr/>
          </p:nvSpPr>
          <p:spPr>
            <a:xfrm>
              <a:off x="7644240" y="4623480"/>
              <a:ext cx="846720" cy="52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7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ACT</a:t>
              </a:r>
              <a:endParaRPr lang="en-US" sz="2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TextBox 51"/>
            <p:cNvSpPr/>
            <p:nvPr/>
          </p:nvSpPr>
          <p:spPr>
            <a:xfrm>
              <a:off x="6927480" y="5131080"/>
              <a:ext cx="2910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只读并行，写操作批准后执行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8" name="Group 61"/>
          <p:cNvGrpSpPr/>
          <p:nvPr/>
        </p:nvGrpSpPr>
        <p:grpSpPr>
          <a:xfrm>
            <a:off x="5067360" y="2685960"/>
            <a:ext cx="2057040" cy="2057040"/>
            <a:chOff x="5067360" y="2685960"/>
            <a:chExt cx="2057040" cy="2057040"/>
          </a:xfrm>
        </p:grpSpPr>
        <p:sp>
          <p:nvSpPr>
            <p:cNvPr id="289" name="Ellipse 53"/>
            <p:cNvSpPr/>
            <p:nvPr/>
          </p:nvSpPr>
          <p:spPr>
            <a:xfrm>
              <a:off x="5067360" y="2685960"/>
              <a:ext cx="2057040" cy="2057040"/>
            </a:xfrm>
            <a:prstGeom prst="ellipse">
              <a:avLst/>
            </a:prstGeom>
            <a:solidFill>
              <a:srgbClr val="18253a"/>
            </a:solidFill>
            <a:ln w="19050">
              <a:solidFill>
                <a:srgbClr val="7cb7ff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0" name="Group 58"/>
            <p:cNvGrpSpPr/>
            <p:nvPr/>
          </p:nvGrpSpPr>
          <p:grpSpPr>
            <a:xfrm>
              <a:off x="5867280" y="3187800"/>
              <a:ext cx="456840" cy="431280"/>
              <a:chOff x="5867280" y="3187800"/>
              <a:chExt cx="456840" cy="431280"/>
            </a:xfrm>
          </p:grpSpPr>
          <p:sp>
            <p:nvSpPr>
              <p:cNvPr id="291" name="Freeform 54"/>
              <p:cNvSpPr/>
              <p:nvPr/>
            </p:nvSpPr>
            <p:spPr>
              <a:xfrm>
                <a:off x="5867280" y="3187800"/>
                <a:ext cx="456840" cy="431280"/>
              </a:xfrm>
              <a:custGeom>
                <a:avLst/>
                <a:gdLst>
                  <a:gd name="textAreaLeft" fmla="*/ 0 w 456840"/>
                  <a:gd name="textAreaRight" fmla="*/ 457200 w 456840"/>
                  <a:gd name="textAreaTop" fmla="*/ 0 h 431280"/>
                  <a:gd name="textAreaBottom" fmla="*/ 431640 h 431280"/>
                </a:gdLst>
                <a:ahLst/>
                <a:cxnLst/>
                <a:rect l="textAreaLeft" t="textAreaTop" r="textAreaRight" b="textAreaBottom"/>
                <a:pathLst>
                  <a:path w="457201" h="431801">
                    <a:moveTo>
                      <a:pt x="381000" y="0"/>
                    </a:moveTo>
                    <a:cubicBezTo>
                      <a:pt x="423085" y="0"/>
                      <a:pt x="457201" y="34116"/>
                      <a:pt x="457201" y="76200"/>
                    </a:cubicBezTo>
                    <a:lnTo>
                      <a:pt x="457201" y="279400"/>
                    </a:lnTo>
                    <a:cubicBezTo>
                      <a:pt x="457201" y="321484"/>
                      <a:pt x="423085" y="355600"/>
                      <a:pt x="381000" y="355600"/>
                    </a:cubicBezTo>
                    <a:lnTo>
                      <a:pt x="254000" y="355600"/>
                    </a:lnTo>
                    <a:lnTo>
                      <a:pt x="127000" y="431801"/>
                    </a:lnTo>
                    <a:lnTo>
                      <a:pt x="127000" y="355600"/>
                    </a:lnTo>
                    <a:lnTo>
                      <a:pt x="76200" y="355600"/>
                    </a:lnTo>
                    <a:cubicBezTo>
                      <a:pt x="34116" y="355600"/>
                      <a:pt x="0" y="321484"/>
                      <a:pt x="0" y="2794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Freeform 55"/>
              <p:cNvSpPr/>
              <p:nvPr/>
            </p:nvSpPr>
            <p:spPr>
              <a:xfrm>
                <a:off x="6032520" y="331488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254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Freeform 56"/>
              <p:cNvSpPr/>
              <p:nvPr/>
            </p:nvSpPr>
            <p:spPr>
              <a:xfrm>
                <a:off x="6159600" y="331488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254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Freeform 57"/>
              <p:cNvSpPr/>
              <p:nvPr/>
            </p:nvSpPr>
            <p:spPr>
              <a:xfrm>
                <a:off x="6032520" y="3416400"/>
                <a:ext cx="126720" cy="26280"/>
              </a:xfrm>
              <a:custGeom>
                <a:avLst/>
                <a:gdLst>
                  <a:gd name="textAreaLeft" fmla="*/ 0 w 126720"/>
                  <a:gd name="textAreaRight" fmla="*/ 127080 w 126720"/>
                  <a:gd name="textAreaTop" fmla="*/ 0 h 26280"/>
                  <a:gd name="textAreaBottom" fmla="*/ 26640 h 26280"/>
                </a:gdLst>
                <a:ahLst/>
                <a:cxnLst/>
                <a:rect l="textAreaLeft" t="textAreaTop" r="textAreaRight" b="textAreaBottom"/>
                <a:pathLst>
                  <a:path w="127000" h="26683">
                    <a:moveTo>
                      <a:pt x="0" y="0"/>
                    </a:moveTo>
                    <a:cubicBezTo>
                      <a:pt x="16721" y="17066"/>
                      <a:pt x="39608" y="26683"/>
                      <a:pt x="63500" y="26683"/>
                    </a:cubicBezTo>
                    <a:cubicBezTo>
                      <a:pt x="87392" y="26683"/>
                      <a:pt x="110279" y="17066"/>
                      <a:pt x="127000" y="0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8360" bIns="-183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5" name="TextBox 59"/>
            <p:cNvSpPr/>
            <p:nvPr/>
          </p:nvSpPr>
          <p:spPr>
            <a:xfrm>
              <a:off x="5076720" y="3806280"/>
              <a:ext cx="20386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SSE EVIDENCE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60"/>
            <p:cNvSpPr/>
            <p:nvPr/>
          </p:nvSpPr>
          <p:spPr>
            <a:xfrm>
              <a:off x="5582160" y="4120560"/>
              <a:ext cx="1025280" cy="487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消息</a:t>
              </a:r>
              <a:r>
                <a:rPr lang="en-US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</a:t>
              </a: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工具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00000"/>
                </a:lnSpc>
              </a:pP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审批</a:t>
              </a:r>
              <a:r>
                <a:rPr lang="en-US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</a:t>
              </a: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结果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7" name="Group 64"/>
          <p:cNvGrpSpPr/>
          <p:nvPr/>
        </p:nvGrpSpPr>
        <p:grpSpPr>
          <a:xfrm>
            <a:off x="533520" y="5772240"/>
            <a:ext cx="11124720" cy="671760"/>
            <a:chOff x="533520" y="5772240"/>
            <a:chExt cx="11124720" cy="671760"/>
          </a:xfrm>
        </p:grpSpPr>
        <p:sp>
          <p:nvSpPr>
            <p:cNvPr id="298" name="Rectangle 62"/>
            <p:cNvSpPr/>
            <p:nvPr/>
          </p:nvSpPr>
          <p:spPr>
            <a:xfrm>
              <a:off x="533520" y="5772240"/>
              <a:ext cx="11124720" cy="590040"/>
            </a:xfrm>
            <a:prstGeom prst="roundRect">
              <a:avLst>
                <a:gd name="adj" fmla="val 6452"/>
              </a:avLst>
            </a:prstGeom>
            <a:solidFill>
              <a:srgbClr val="18253a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TextBox 63"/>
            <p:cNvSpPr/>
            <p:nvPr/>
          </p:nvSpPr>
          <p:spPr>
            <a:xfrm>
              <a:off x="752760" y="5825520"/>
              <a:ext cx="8124120" cy="61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ts val="21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每次执行前都经过风险判定；写工具和可变工具进入完整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Review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。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只读工具可并行取证，最终按六段式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RCA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收敛。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0" name="TextBox 65"/>
          <p:cNvSpPr/>
          <p:nvPr/>
        </p:nvSpPr>
        <p:spPr>
          <a:xfrm>
            <a:off x="10905120" y="6493320"/>
            <a:ext cx="7599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7f91aa"/>
                </a:solidFill>
                <a:effectLst/>
                <a:uFillTx/>
                <a:latin typeface="Consolas"/>
                <a:ea typeface="Consolas"/>
              </a:rPr>
              <a:t>04 / 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302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2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4" name="Group 8"/>
          <p:cNvGrpSpPr/>
          <p:nvPr/>
        </p:nvGrpSpPr>
        <p:grpSpPr>
          <a:xfrm>
            <a:off x="514440" y="235440"/>
            <a:ext cx="13186800" cy="1405080"/>
            <a:chOff x="514440" y="235440"/>
            <a:chExt cx="13186800" cy="1405080"/>
          </a:xfrm>
        </p:grpSpPr>
        <p:sp>
          <p:nvSpPr>
            <p:cNvPr id="305" name="TextBox 5"/>
            <p:cNvSpPr/>
            <p:nvPr/>
          </p:nvSpPr>
          <p:spPr>
            <a:xfrm>
              <a:off x="526680" y="235440"/>
              <a:ext cx="5904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TOOLS-18 / UNIFIED SCHEMA / MULTI-SERVER ROUTING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TextBox 6"/>
            <p:cNvSpPr/>
            <p:nvPr/>
          </p:nvSpPr>
          <p:spPr>
            <a:xfrm>
              <a:off x="514440" y="493560"/>
              <a:ext cx="1318680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18 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个业务工具覆盖 </a:t>
              </a: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OS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、数据库和 </a:t>
              </a: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eBPF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，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TextBox 7"/>
            <p:cNvSpPr/>
            <p:nvPr/>
          </p:nvSpPr>
          <p:spPr>
            <a:xfrm>
              <a:off x="514440" y="1045800"/>
              <a:ext cx="5944320" cy="59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7cb7ff"/>
                  </a:solidFill>
                  <a:effectLst/>
                  <a:uFillTx/>
                  <a:latin typeface="Segoe UI"/>
                  <a:ea typeface="Microsoft YaHei"/>
                </a:rPr>
                <a:t>工具总线可灵活接入云平台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8" name="Group 18"/>
          <p:cNvGrpSpPr/>
          <p:nvPr/>
        </p:nvGrpSpPr>
        <p:grpSpPr>
          <a:xfrm>
            <a:off x="533520" y="1752480"/>
            <a:ext cx="8915040" cy="4038120"/>
            <a:chOff x="533520" y="1752480"/>
            <a:chExt cx="8915040" cy="4038120"/>
          </a:xfrm>
        </p:grpSpPr>
        <p:sp>
          <p:nvSpPr>
            <p:cNvPr id="309" name="Rectangle 9"/>
            <p:cNvSpPr/>
            <p:nvPr/>
          </p:nvSpPr>
          <p:spPr>
            <a:xfrm>
              <a:off x="533520" y="1752480"/>
              <a:ext cx="8915040" cy="4038120"/>
            </a:xfrm>
            <a:prstGeom prst="roundRect">
              <a:avLst>
                <a:gd name="adj" fmla="val 1415"/>
              </a:avLst>
            </a:prstGeom>
            <a:solidFill>
              <a:srgbClr val="132238">
                <a:alpha val="62000"/>
              </a:srgbClr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Rectangle 10"/>
            <p:cNvSpPr/>
            <p:nvPr/>
          </p:nvSpPr>
          <p:spPr>
            <a:xfrm>
              <a:off x="533520" y="1752480"/>
              <a:ext cx="8915040" cy="552240"/>
            </a:xfrm>
            <a:prstGeom prst="rect">
              <a:avLst/>
            </a:prstGeom>
            <a:solidFill>
              <a:srgbClr val="18253a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1" name="Group 15"/>
            <p:cNvGrpSpPr/>
            <p:nvPr/>
          </p:nvGrpSpPr>
          <p:grpSpPr>
            <a:xfrm>
              <a:off x="783360" y="1930320"/>
              <a:ext cx="242640" cy="215640"/>
              <a:chOff x="783360" y="1930320"/>
              <a:chExt cx="242640" cy="215640"/>
            </a:xfrm>
          </p:grpSpPr>
          <p:sp>
            <p:nvSpPr>
              <p:cNvPr id="312" name="Freeform 11"/>
              <p:cNvSpPr/>
              <p:nvPr/>
            </p:nvSpPr>
            <p:spPr>
              <a:xfrm>
                <a:off x="783360" y="1930320"/>
                <a:ext cx="242640" cy="107640"/>
              </a:xfrm>
              <a:custGeom>
                <a:avLst/>
                <a:gdLst>
                  <a:gd name="textAreaLeft" fmla="*/ 0 w 242640"/>
                  <a:gd name="textAreaRight" fmla="*/ 243000 w 2426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eform 12"/>
              <p:cNvSpPr/>
              <p:nvPr/>
            </p:nvSpPr>
            <p:spPr>
              <a:xfrm>
                <a:off x="783360" y="2038320"/>
                <a:ext cx="242640" cy="107640"/>
              </a:xfrm>
              <a:custGeom>
                <a:avLst/>
                <a:gdLst>
                  <a:gd name="textAreaLeft" fmla="*/ 0 w 242640"/>
                  <a:gd name="textAreaRight" fmla="*/ 243000 w 2426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7" y="0"/>
                    </a:lnTo>
                    <a:cubicBezTo>
                      <a:pt x="224764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4" y="107950"/>
                      <a:pt x="202407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eform 13"/>
              <p:cNvSpPr/>
              <p:nvPr/>
            </p:nvSpPr>
            <p:spPr>
              <a:xfrm>
                <a:off x="837360" y="198432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eform 14"/>
              <p:cNvSpPr/>
              <p:nvPr/>
            </p:nvSpPr>
            <p:spPr>
              <a:xfrm>
                <a:off x="837360" y="209232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6" name="TextBox 16"/>
            <p:cNvSpPr/>
            <p:nvPr/>
          </p:nvSpPr>
          <p:spPr>
            <a:xfrm>
              <a:off x="1190880" y="1929600"/>
              <a:ext cx="3065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MCP TOOL REGISTRY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TextBox 17"/>
            <p:cNvSpPr/>
            <p:nvPr/>
          </p:nvSpPr>
          <p:spPr>
            <a:xfrm>
              <a:off x="4205880" y="1929600"/>
              <a:ext cx="492804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统一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schema ·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安全元数据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 server_name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路由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8" name="Group 34"/>
          <p:cNvGrpSpPr/>
          <p:nvPr/>
        </p:nvGrpSpPr>
        <p:grpSpPr>
          <a:xfrm>
            <a:off x="743040" y="2514600"/>
            <a:ext cx="3169800" cy="1300320"/>
            <a:chOff x="743040" y="2514600"/>
            <a:chExt cx="3169800" cy="1300320"/>
          </a:xfrm>
        </p:grpSpPr>
        <p:sp>
          <p:nvSpPr>
            <p:cNvPr id="319" name="Rectangle 19"/>
            <p:cNvSpPr/>
            <p:nvPr/>
          </p:nvSpPr>
          <p:spPr>
            <a:xfrm>
              <a:off x="743040" y="2514600"/>
              <a:ext cx="2571480" cy="1294920"/>
            </a:xfrm>
            <a:prstGeom prst="roundRect">
              <a:avLst>
                <a:gd name="adj" fmla="val 3676"/>
              </a:avLst>
            </a:prstGeom>
            <a:solidFill>
              <a:srgbClr val="10182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0" name="Group 30"/>
            <p:cNvGrpSpPr/>
            <p:nvPr/>
          </p:nvGrpSpPr>
          <p:grpSpPr>
            <a:xfrm>
              <a:off x="964440" y="2755080"/>
              <a:ext cx="299880" cy="299880"/>
              <a:chOff x="964440" y="2755080"/>
              <a:chExt cx="299880" cy="299880"/>
            </a:xfrm>
          </p:grpSpPr>
          <p:sp>
            <p:nvSpPr>
              <p:cNvPr id="321" name="Freeform 20"/>
              <p:cNvSpPr/>
              <p:nvPr/>
            </p:nvSpPr>
            <p:spPr>
              <a:xfrm>
                <a:off x="997920" y="2788560"/>
                <a:ext cx="232920" cy="232920"/>
              </a:xfrm>
              <a:custGeom>
                <a:avLst/>
                <a:gdLst>
                  <a:gd name="textAreaLeft" fmla="*/ 0 w 232920"/>
                  <a:gd name="textAreaRight" fmla="*/ 233280 w 232920"/>
                  <a:gd name="textAreaTop" fmla="*/ 0 h 232920"/>
                  <a:gd name="textAreaBottom" fmla="*/ 233280 h 232920"/>
                </a:gdLst>
                <a:ahLst/>
                <a:cxnLst/>
                <a:rect l="textAreaLeft" t="textAreaTop" r="textAreaRight" b="textAreaBottom"/>
                <a:pathLst>
                  <a:path w="233362" h="233362">
                    <a:moveTo>
                      <a:pt x="0" y="16669"/>
                    </a:moveTo>
                    <a:cubicBezTo>
                      <a:pt x="0" y="7463"/>
                      <a:pt x="7463" y="0"/>
                      <a:pt x="16669" y="0"/>
                    </a:cubicBezTo>
                    <a:lnTo>
                      <a:pt x="216694" y="0"/>
                    </a:lnTo>
                    <a:cubicBezTo>
                      <a:pt x="225900" y="0"/>
                      <a:pt x="233362" y="7463"/>
                      <a:pt x="233362" y="16669"/>
                    </a:cubicBezTo>
                    <a:lnTo>
                      <a:pt x="233362" y="216694"/>
                    </a:lnTo>
                    <a:cubicBezTo>
                      <a:pt x="233362" y="225900"/>
                      <a:pt x="225900" y="233362"/>
                      <a:pt x="216694" y="233362"/>
                    </a:cubicBezTo>
                    <a:lnTo>
                      <a:pt x="16669" y="233362"/>
                    </a:lnTo>
                    <a:cubicBezTo>
                      <a:pt x="7463" y="233362"/>
                      <a:pt x="0" y="225900"/>
                      <a:pt x="0" y="216694"/>
                    </a:cubicBezTo>
                    <a:lnTo>
                      <a:pt x="0" y="16669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eform 21"/>
              <p:cNvSpPr/>
              <p:nvPr/>
            </p:nvSpPr>
            <p:spPr>
              <a:xfrm>
                <a:off x="1064520" y="285516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00012" h="100012">
                    <a:moveTo>
                      <a:pt x="0" y="0"/>
                    </a:moveTo>
                    <a:lnTo>
                      <a:pt x="100012" y="0"/>
                    </a:lnTo>
                    <a:lnTo>
                      <a:pt x="100012" y="100012"/>
                    </a:lnTo>
                    <a:lnTo>
                      <a:pt x="0" y="10001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eform 22"/>
              <p:cNvSpPr/>
              <p:nvPr/>
            </p:nvSpPr>
            <p:spPr>
              <a:xfrm>
                <a:off x="964440" y="2871720"/>
                <a:ext cx="33120" cy="900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eform 23"/>
              <p:cNvSpPr/>
              <p:nvPr/>
            </p:nvSpPr>
            <p:spPr>
              <a:xfrm>
                <a:off x="964440" y="2938320"/>
                <a:ext cx="33120" cy="900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33338" h="9525">
                    <a:moveTo>
                      <a:pt x="0" y="0"/>
                    </a:move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eform 24"/>
              <p:cNvSpPr/>
              <p:nvPr/>
            </p:nvSpPr>
            <p:spPr>
              <a:xfrm>
                <a:off x="1081080" y="2755080"/>
                <a:ext cx="9000" cy="3312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eform 25"/>
              <p:cNvSpPr/>
              <p:nvPr/>
            </p:nvSpPr>
            <p:spPr>
              <a:xfrm>
                <a:off x="1147680" y="2755080"/>
                <a:ext cx="9000" cy="3312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eform 26"/>
              <p:cNvSpPr/>
              <p:nvPr/>
            </p:nvSpPr>
            <p:spPr>
              <a:xfrm>
                <a:off x="1231200" y="2871720"/>
                <a:ext cx="33120" cy="900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33338" h="9525">
                    <a:moveTo>
                      <a:pt x="33338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eform 27"/>
              <p:cNvSpPr/>
              <p:nvPr/>
            </p:nvSpPr>
            <p:spPr>
              <a:xfrm>
                <a:off x="1231200" y="2938320"/>
                <a:ext cx="33120" cy="9000"/>
              </a:xfrm>
              <a:custGeom>
                <a:avLst/>
                <a:gdLst>
                  <a:gd name="textAreaLeft" fmla="*/ 0 w 33120"/>
                  <a:gd name="textAreaRight" fmla="*/ 33480 w 3312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33338" h="9525">
                    <a:moveTo>
                      <a:pt x="33338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9" name="Freeform 28"/>
              <p:cNvSpPr/>
              <p:nvPr/>
            </p:nvSpPr>
            <p:spPr>
              <a:xfrm>
                <a:off x="1147680" y="3021840"/>
                <a:ext cx="9000" cy="3312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9525" h="33338">
                    <a:moveTo>
                      <a:pt x="0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eform 29"/>
              <p:cNvSpPr/>
              <p:nvPr/>
            </p:nvSpPr>
            <p:spPr>
              <a:xfrm>
                <a:off x="1081080" y="3021840"/>
                <a:ext cx="9000" cy="3312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33120"/>
                  <a:gd name="textAreaBottom" fmla="*/ 33480 h 33120"/>
                </a:gdLst>
                <a:ahLst/>
                <a:cxnLst/>
                <a:rect l="textAreaLeft" t="textAreaTop" r="textAreaRight" b="textAreaBottom"/>
                <a:pathLst>
                  <a:path w="9525" h="33338">
                    <a:moveTo>
                      <a:pt x="0" y="333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1520" bIns="-115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1" name="TextBox 31"/>
            <p:cNvSpPr/>
            <p:nvPr/>
          </p:nvSpPr>
          <p:spPr>
            <a:xfrm>
              <a:off x="1454760" y="2731680"/>
              <a:ext cx="245808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5 </a:t>
              </a: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个基础感知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TextBox 32"/>
            <p:cNvSpPr/>
            <p:nvPr/>
          </p:nvSpPr>
          <p:spPr>
            <a:xfrm>
              <a:off x="924480" y="3177720"/>
              <a:ext cx="25257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CPU ·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内存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磁盘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TextBox 33"/>
            <p:cNvSpPr/>
            <p:nvPr/>
          </p:nvSpPr>
          <p:spPr>
            <a:xfrm>
              <a:off x="924480" y="3463200"/>
              <a:ext cx="15483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网络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进程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4" name="Group 40"/>
          <p:cNvGrpSpPr/>
          <p:nvPr/>
        </p:nvGrpSpPr>
        <p:grpSpPr>
          <a:xfrm>
            <a:off x="3505320" y="2514600"/>
            <a:ext cx="2873520" cy="1300320"/>
            <a:chOff x="3505320" y="2514600"/>
            <a:chExt cx="2873520" cy="1300320"/>
          </a:xfrm>
        </p:grpSpPr>
        <p:sp>
          <p:nvSpPr>
            <p:cNvPr id="335" name="Rectangle 35"/>
            <p:cNvSpPr/>
            <p:nvPr/>
          </p:nvSpPr>
          <p:spPr>
            <a:xfrm>
              <a:off x="3505320" y="2514600"/>
              <a:ext cx="2571480" cy="1294920"/>
            </a:xfrm>
            <a:prstGeom prst="roundRect">
              <a:avLst>
                <a:gd name="adj" fmla="val 3676"/>
              </a:avLst>
            </a:prstGeom>
            <a:solidFill>
              <a:srgbClr val="10182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eform 36"/>
            <p:cNvSpPr/>
            <p:nvPr/>
          </p:nvSpPr>
          <p:spPr>
            <a:xfrm>
              <a:off x="3726720" y="2805120"/>
              <a:ext cx="299520" cy="199800"/>
            </a:xfrm>
            <a:custGeom>
              <a:avLst/>
              <a:gdLst>
                <a:gd name="textAreaLeft" fmla="*/ 0 w 299520"/>
                <a:gd name="textAreaRight" fmla="*/ 299880 w 299520"/>
                <a:gd name="textAreaTop" fmla="*/ 0 h 199800"/>
                <a:gd name="textAreaBottom" fmla="*/ 200160 h 199800"/>
              </a:gdLst>
              <a:ahLst/>
              <a:cxnLst/>
              <a:rect l="textAreaLeft" t="textAreaTop" r="textAreaRight" b="textAreaBottom"/>
              <a:pathLst>
                <a:path w="300038" h="200025">
                  <a:moveTo>
                    <a:pt x="0" y="100012"/>
                  </a:moveTo>
                  <a:lnTo>
                    <a:pt x="75009" y="100012"/>
                  </a:lnTo>
                  <a:lnTo>
                    <a:pt x="100012" y="0"/>
                  </a:lnTo>
                  <a:lnTo>
                    <a:pt x="166688" y="200025"/>
                  </a:lnTo>
                  <a:lnTo>
                    <a:pt x="200025" y="50006"/>
                  </a:lnTo>
                  <a:lnTo>
                    <a:pt x="225028" y="100012"/>
                  </a:lnTo>
                  <a:lnTo>
                    <a:pt x="300038" y="100012"/>
                  </a:lnTo>
                </a:path>
              </a:pathLst>
            </a:custGeom>
            <a:noFill/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TextBox 37"/>
            <p:cNvSpPr/>
            <p:nvPr/>
          </p:nvSpPr>
          <p:spPr>
            <a:xfrm>
              <a:off x="4219920" y="2796480"/>
              <a:ext cx="2155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2 </a:t>
              </a: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个运行态工具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TextBox 38"/>
            <p:cNvSpPr/>
            <p:nvPr/>
          </p:nvSpPr>
          <p:spPr>
            <a:xfrm>
              <a:off x="3686400" y="3177720"/>
              <a:ext cx="24249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tool-server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自检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TextBox 39"/>
            <p:cNvSpPr/>
            <p:nvPr/>
          </p:nvSpPr>
          <p:spPr>
            <a:xfrm>
              <a:off x="3686400" y="3463200"/>
              <a:ext cx="2692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工具目录与能力状态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0" name="Group 49"/>
          <p:cNvGrpSpPr/>
          <p:nvPr/>
        </p:nvGrpSpPr>
        <p:grpSpPr>
          <a:xfrm>
            <a:off x="6267600" y="2514600"/>
            <a:ext cx="3242160" cy="1300320"/>
            <a:chOff x="6267600" y="2514600"/>
            <a:chExt cx="3242160" cy="1300320"/>
          </a:xfrm>
        </p:grpSpPr>
        <p:sp>
          <p:nvSpPr>
            <p:cNvPr id="341" name="Rectangle 41"/>
            <p:cNvSpPr/>
            <p:nvPr/>
          </p:nvSpPr>
          <p:spPr>
            <a:xfrm>
              <a:off x="6267600" y="2514600"/>
              <a:ext cx="2971440" cy="1294920"/>
            </a:xfrm>
            <a:prstGeom prst="roundRect">
              <a:avLst>
                <a:gd name="adj" fmla="val 3676"/>
              </a:avLst>
            </a:prstGeom>
            <a:solidFill>
              <a:srgbClr val="10182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42" name="Group 45"/>
            <p:cNvGrpSpPr/>
            <p:nvPr/>
          </p:nvGrpSpPr>
          <p:grpSpPr>
            <a:xfrm>
              <a:off x="6505560" y="2755080"/>
              <a:ext cx="266400" cy="299880"/>
              <a:chOff x="6505560" y="2755080"/>
              <a:chExt cx="266400" cy="299880"/>
            </a:xfrm>
          </p:grpSpPr>
          <p:sp>
            <p:nvSpPr>
              <p:cNvPr id="343" name="Freeform 42"/>
              <p:cNvSpPr/>
              <p:nvPr/>
            </p:nvSpPr>
            <p:spPr>
              <a:xfrm>
                <a:off x="6505560" y="2755080"/>
                <a:ext cx="266400" cy="9972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eform 43"/>
              <p:cNvSpPr/>
              <p:nvPr/>
            </p:nvSpPr>
            <p:spPr>
              <a:xfrm>
                <a:off x="6505560" y="2805120"/>
                <a:ext cx="266400" cy="14976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eform 44"/>
              <p:cNvSpPr/>
              <p:nvPr/>
            </p:nvSpPr>
            <p:spPr>
              <a:xfrm>
                <a:off x="6505560" y="2905200"/>
                <a:ext cx="266400" cy="14976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6" name="TextBox 46"/>
            <p:cNvSpPr/>
            <p:nvPr/>
          </p:nvSpPr>
          <p:spPr>
            <a:xfrm>
              <a:off x="6982200" y="2796480"/>
              <a:ext cx="25275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2 </a:t>
              </a: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 </a:t>
              </a: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PostgreSQL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TextBox 47"/>
            <p:cNvSpPr/>
            <p:nvPr/>
          </p:nvSpPr>
          <p:spPr>
            <a:xfrm>
              <a:off x="6448680" y="3177720"/>
              <a:ext cx="2098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连接与活动会话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TextBox 48"/>
            <p:cNvSpPr/>
            <p:nvPr/>
          </p:nvSpPr>
          <p:spPr>
            <a:xfrm>
              <a:off x="6448680" y="3463200"/>
              <a:ext cx="2098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数据库诊断证据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9" name="Group 58"/>
          <p:cNvGrpSpPr/>
          <p:nvPr/>
        </p:nvGrpSpPr>
        <p:grpSpPr>
          <a:xfrm>
            <a:off x="743040" y="4019400"/>
            <a:ext cx="2744280" cy="1428480"/>
            <a:chOff x="743040" y="4019400"/>
            <a:chExt cx="2744280" cy="1428480"/>
          </a:xfrm>
        </p:grpSpPr>
        <p:sp>
          <p:nvSpPr>
            <p:cNvPr id="350" name="Rectangle 50"/>
            <p:cNvSpPr/>
            <p:nvPr/>
          </p:nvSpPr>
          <p:spPr>
            <a:xfrm>
              <a:off x="743040" y="4019400"/>
              <a:ext cx="2571480" cy="1428480"/>
            </a:xfrm>
            <a:prstGeom prst="roundRect">
              <a:avLst>
                <a:gd name="adj" fmla="val 3333"/>
              </a:avLst>
            </a:prstGeom>
            <a:solidFill>
              <a:srgbClr val="10182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1" name="Group 54"/>
            <p:cNvGrpSpPr/>
            <p:nvPr/>
          </p:nvGrpSpPr>
          <p:grpSpPr>
            <a:xfrm>
              <a:off x="964440" y="4276800"/>
              <a:ext cx="299520" cy="266400"/>
              <a:chOff x="964440" y="4276800"/>
              <a:chExt cx="299520" cy="266400"/>
            </a:xfrm>
          </p:grpSpPr>
          <p:sp>
            <p:nvSpPr>
              <p:cNvPr id="352" name="Freeform 51"/>
              <p:cNvSpPr/>
              <p:nvPr/>
            </p:nvSpPr>
            <p:spPr>
              <a:xfrm>
                <a:off x="1047600" y="4359960"/>
                <a:ext cx="49680" cy="9972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50006" h="100012">
                    <a:moveTo>
                      <a:pt x="0" y="0"/>
                    </a:moveTo>
                    <a:lnTo>
                      <a:pt x="50006" y="50006"/>
                    </a:lnTo>
                    <a:lnTo>
                      <a:pt x="0" y="100012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eform 52"/>
              <p:cNvSpPr/>
              <p:nvPr/>
            </p:nvSpPr>
            <p:spPr>
              <a:xfrm>
                <a:off x="1131120" y="4460040"/>
                <a:ext cx="49680" cy="9000"/>
              </a:xfrm>
              <a:custGeom>
                <a:avLst/>
                <a:gdLst>
                  <a:gd name="textAreaLeft" fmla="*/ 0 w 49680"/>
                  <a:gd name="textAreaRight" fmla="*/ 50040 w 4968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50006" h="9525">
                    <a:moveTo>
                      <a:pt x="0" y="0"/>
                    </a:moveTo>
                    <a:lnTo>
                      <a:pt x="50006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eform 53"/>
              <p:cNvSpPr/>
              <p:nvPr/>
            </p:nvSpPr>
            <p:spPr>
              <a:xfrm>
                <a:off x="964440" y="4276800"/>
                <a:ext cx="299520" cy="266400"/>
              </a:xfrm>
              <a:custGeom>
                <a:avLst/>
                <a:gdLst>
                  <a:gd name="textAreaLeft" fmla="*/ 0 w 299520"/>
                  <a:gd name="textAreaRight" fmla="*/ 299880 w 299520"/>
                  <a:gd name="textAreaTop" fmla="*/ 0 h 266400"/>
                  <a:gd name="textAreaBottom" fmla="*/ 266760 h 266400"/>
                </a:gdLst>
                <a:ahLst/>
                <a:cxnLst/>
                <a:rect l="textAreaLeft" t="textAreaTop" r="textAreaRight" b="textAreaBottom"/>
                <a:pathLst>
                  <a:path w="300038" h="2667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266700" y="0"/>
                    </a:lnTo>
                    <a:cubicBezTo>
                      <a:pt x="285112" y="0"/>
                      <a:pt x="300038" y="14926"/>
                      <a:pt x="300038" y="33338"/>
                    </a:cubicBezTo>
                    <a:lnTo>
                      <a:pt x="300038" y="233362"/>
                    </a:lnTo>
                    <a:cubicBezTo>
                      <a:pt x="300038" y="251774"/>
                      <a:pt x="285112" y="266700"/>
                      <a:pt x="266700" y="266700"/>
                    </a:cubicBezTo>
                    <a:lnTo>
                      <a:pt x="33338" y="266700"/>
                    </a:lnTo>
                    <a:cubicBezTo>
                      <a:pt x="14926" y="266700"/>
                      <a:pt x="0" y="251774"/>
                      <a:pt x="0" y="233362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5" name="TextBox 55"/>
            <p:cNvSpPr/>
            <p:nvPr/>
          </p:nvSpPr>
          <p:spPr>
            <a:xfrm>
              <a:off x="1457640" y="4301640"/>
              <a:ext cx="20296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1 </a:t>
              </a: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个受控 </a:t>
              </a: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Bash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TextBox 56"/>
            <p:cNvSpPr/>
            <p:nvPr/>
          </p:nvSpPr>
          <p:spPr>
            <a:xfrm>
              <a:off x="924480" y="4701600"/>
              <a:ext cx="22867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按参数动态识别危险性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TextBox 57"/>
            <p:cNvSpPr/>
            <p:nvPr/>
          </p:nvSpPr>
          <p:spPr>
            <a:xfrm>
              <a:off x="926640" y="5073840"/>
              <a:ext cx="1139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fail closed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58" name="Group 66"/>
          <p:cNvGrpSpPr/>
          <p:nvPr/>
        </p:nvGrpSpPr>
        <p:grpSpPr>
          <a:xfrm>
            <a:off x="3505320" y="4019400"/>
            <a:ext cx="5733720" cy="1428480"/>
            <a:chOff x="3505320" y="4019400"/>
            <a:chExt cx="5733720" cy="1428480"/>
          </a:xfrm>
        </p:grpSpPr>
        <p:sp>
          <p:nvSpPr>
            <p:cNvPr id="359" name="Rectangle 59"/>
            <p:cNvSpPr/>
            <p:nvPr/>
          </p:nvSpPr>
          <p:spPr>
            <a:xfrm>
              <a:off x="3505320" y="4019400"/>
              <a:ext cx="5733720" cy="1428480"/>
            </a:xfrm>
            <a:prstGeom prst="roundRect">
              <a:avLst>
                <a:gd name="adj" fmla="val 3333"/>
              </a:avLst>
            </a:prstGeom>
            <a:solidFill>
              <a:srgbClr val="101828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0" name="Group 62"/>
            <p:cNvGrpSpPr/>
            <p:nvPr/>
          </p:nvGrpSpPr>
          <p:grpSpPr>
            <a:xfrm>
              <a:off x="3743280" y="4309920"/>
              <a:ext cx="266400" cy="225720"/>
              <a:chOff x="3743280" y="4309920"/>
              <a:chExt cx="266400" cy="225720"/>
            </a:xfrm>
          </p:grpSpPr>
          <p:sp>
            <p:nvSpPr>
              <p:cNvPr id="361" name="Freeform 60"/>
              <p:cNvSpPr/>
              <p:nvPr/>
            </p:nvSpPr>
            <p:spPr>
              <a:xfrm>
                <a:off x="3743280" y="4526640"/>
                <a:ext cx="266400" cy="900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eform 61"/>
              <p:cNvSpPr/>
              <p:nvPr/>
            </p:nvSpPr>
            <p:spPr>
              <a:xfrm>
                <a:off x="3743280" y="4309920"/>
                <a:ext cx="266400" cy="14976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w="266700" h="150019">
                    <a:moveTo>
                      <a:pt x="0" y="150019"/>
                    </a:moveTo>
                    <a:lnTo>
                      <a:pt x="66675" y="50006"/>
                    </a:lnTo>
                    <a:lnTo>
                      <a:pt x="133350" y="83344"/>
                    </a:lnTo>
                    <a:lnTo>
                      <a:pt x="200025" y="0"/>
                    </a:lnTo>
                    <a:lnTo>
                      <a:pt x="266700" y="66675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TextBox 63"/>
            <p:cNvSpPr/>
            <p:nvPr/>
          </p:nvSpPr>
          <p:spPr>
            <a:xfrm>
              <a:off x="4217040" y="4236840"/>
              <a:ext cx="378900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8 </a:t>
              </a: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 </a:t>
              </a: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eBPF </a:t>
              </a: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观测工具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TextBox 64"/>
            <p:cNvSpPr/>
            <p:nvPr/>
          </p:nvSpPr>
          <p:spPr>
            <a:xfrm>
              <a:off x="3686400" y="4682520"/>
              <a:ext cx="48762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进程启动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退出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 TCP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连接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丢包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TextBox 65"/>
            <p:cNvSpPr/>
            <p:nvPr/>
          </p:nvSpPr>
          <p:spPr>
            <a:xfrm>
              <a:off x="3686400" y="5006520"/>
              <a:ext cx="52545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系统调用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慢调用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 I/O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延迟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· OOM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6" name="Group 75"/>
          <p:cNvGrpSpPr/>
          <p:nvPr/>
        </p:nvGrpSpPr>
        <p:grpSpPr>
          <a:xfrm>
            <a:off x="9696600" y="1752480"/>
            <a:ext cx="2199600" cy="2385000"/>
            <a:chOff x="9696600" y="1752480"/>
            <a:chExt cx="2199600" cy="2385000"/>
          </a:xfrm>
        </p:grpSpPr>
        <p:sp>
          <p:nvSpPr>
            <p:cNvPr id="367" name="Rectangle 67"/>
            <p:cNvSpPr/>
            <p:nvPr/>
          </p:nvSpPr>
          <p:spPr>
            <a:xfrm>
              <a:off x="9696600" y="1752480"/>
              <a:ext cx="1961640" cy="2381040"/>
            </a:xfrm>
            <a:prstGeom prst="roundRect">
              <a:avLst>
                <a:gd name="adj" fmla="val 2913"/>
              </a:avLst>
            </a:prstGeom>
            <a:solidFill>
              <a:srgbClr val="18253a"/>
            </a:solidFill>
            <a:ln w="19050">
              <a:solidFill>
                <a:srgbClr val="ffb84d"/>
              </a:solidFill>
              <a:custDash>
                <a:ds d="400000" sp="250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TextBox 68"/>
            <p:cNvSpPr/>
            <p:nvPr/>
          </p:nvSpPr>
          <p:spPr>
            <a:xfrm>
              <a:off x="9899280" y="1911600"/>
              <a:ext cx="1634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INTERNAL ONLY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TextBox 69"/>
            <p:cNvSpPr/>
            <p:nvPr/>
          </p:nvSpPr>
          <p:spPr>
            <a:xfrm>
              <a:off x="9899280" y="2349720"/>
              <a:ext cx="1569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bash_classify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Box 70"/>
            <p:cNvSpPr/>
            <p:nvPr/>
          </p:nvSpPr>
          <p:spPr>
            <a:xfrm>
              <a:off x="9896760" y="2758320"/>
              <a:ext cx="1999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execute_tool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TextBox 71"/>
            <p:cNvSpPr/>
            <p:nvPr/>
          </p:nvSpPr>
          <p:spPr>
            <a:xfrm>
              <a:off x="9896760" y="3215520"/>
              <a:ext cx="9694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health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Freeform 72"/>
            <p:cNvSpPr/>
            <p:nvPr/>
          </p:nvSpPr>
          <p:spPr>
            <a:xfrm>
              <a:off x="9906120" y="3638520"/>
              <a:ext cx="1542600" cy="9000"/>
            </a:xfrm>
            <a:custGeom>
              <a:avLst/>
              <a:gdLst>
                <a:gd name="textAreaLeft" fmla="*/ 0 w 1542600"/>
                <a:gd name="textAreaRight" fmla="*/ 1542960 w 154260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TextBox 73"/>
            <p:cNvSpPr/>
            <p:nvPr/>
          </p:nvSpPr>
          <p:spPr>
            <a:xfrm>
              <a:off x="9899280" y="3683160"/>
              <a:ext cx="17964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伴生工具，不进入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Box 74"/>
            <p:cNvSpPr/>
            <p:nvPr/>
          </p:nvSpPr>
          <p:spPr>
            <a:xfrm>
              <a:off x="9899280" y="3873960"/>
              <a:ext cx="1395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Consolas"/>
                  <a:ea typeface="Consolas"/>
                </a:rPr>
                <a:t>LLM tool list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5" name="Group 85"/>
          <p:cNvGrpSpPr/>
          <p:nvPr/>
        </p:nvGrpSpPr>
        <p:grpSpPr>
          <a:xfrm>
            <a:off x="9696600" y="4362480"/>
            <a:ext cx="1961640" cy="1432080"/>
            <a:chOff x="9696600" y="4362480"/>
            <a:chExt cx="1961640" cy="1432080"/>
          </a:xfrm>
        </p:grpSpPr>
        <p:sp>
          <p:nvSpPr>
            <p:cNvPr id="376" name="Rectangle 76"/>
            <p:cNvSpPr/>
            <p:nvPr/>
          </p:nvSpPr>
          <p:spPr>
            <a:xfrm>
              <a:off x="9696600" y="4362480"/>
              <a:ext cx="1961640" cy="1428480"/>
            </a:xfrm>
            <a:prstGeom prst="roundRect">
              <a:avLst>
                <a:gd name="adj" fmla="val 4000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custDash>
                <a:ds d="400000" sp="250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7" name="Group 82"/>
            <p:cNvGrpSpPr/>
            <p:nvPr/>
          </p:nvGrpSpPr>
          <p:grpSpPr>
            <a:xfrm>
              <a:off x="10391760" y="4591800"/>
              <a:ext cx="571320" cy="551520"/>
              <a:chOff x="10391760" y="4591800"/>
              <a:chExt cx="571320" cy="551520"/>
            </a:xfrm>
          </p:grpSpPr>
          <p:sp>
            <p:nvSpPr>
              <p:cNvPr id="378" name="Freeform 77"/>
              <p:cNvSpPr/>
              <p:nvPr/>
            </p:nvSpPr>
            <p:spPr>
              <a:xfrm>
                <a:off x="10420200" y="5086440"/>
                <a:ext cx="199800" cy="900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eform 78"/>
              <p:cNvSpPr/>
              <p:nvPr/>
            </p:nvSpPr>
            <p:spPr>
              <a:xfrm>
                <a:off x="10734840" y="5086440"/>
                <a:ext cx="199800" cy="900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eform 79"/>
              <p:cNvSpPr/>
              <p:nvPr/>
            </p:nvSpPr>
            <p:spPr>
              <a:xfrm>
                <a:off x="10620360" y="5029200"/>
                <a:ext cx="114120" cy="11412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14120"/>
                  <a:gd name="textAreaBottom" fmla="*/ 114480 h 114120"/>
                </a:gdLst>
                <a:ahLst/>
                <a:cxnLst/>
                <a:rect l="textAreaLeft" t="textAreaTop" r="textAreaRight" b="textAreaBottom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Freeform 80"/>
              <p:cNvSpPr/>
              <p:nvPr/>
            </p:nvSpPr>
            <p:spPr>
              <a:xfrm>
                <a:off x="10677600" y="4971960"/>
                <a:ext cx="9000" cy="5688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eform 81"/>
              <p:cNvSpPr/>
              <p:nvPr/>
            </p:nvSpPr>
            <p:spPr>
              <a:xfrm>
                <a:off x="10391760" y="4591800"/>
                <a:ext cx="571320" cy="380160"/>
              </a:xfrm>
              <a:custGeom>
                <a:avLst/>
                <a:gdLst>
                  <a:gd name="textAreaLeft" fmla="*/ 0 w 571320"/>
                  <a:gd name="textAreaRight" fmla="*/ 571680 w 571320"/>
                  <a:gd name="textAreaTop" fmla="*/ 0 h 380160"/>
                  <a:gd name="textAreaBottom" fmla="*/ 380520 h 380160"/>
                </a:gdLst>
                <a:ahLst/>
                <a:cxnLst/>
                <a:rect l="textAreaLeft" t="textAreaTop" r="textAreaRight" b="textAreaBottom"/>
                <a:pathLst>
                  <a:path w="571500" h="380448">
                    <a:moveTo>
                      <a:pt x="171450" y="380448"/>
                    </a:moveTo>
                    <a:lnTo>
                      <a:pt x="133074" y="380448"/>
                    </a:lnTo>
                    <a:cubicBezTo>
                      <a:pt x="59579" y="380333"/>
                      <a:pt x="0" y="322983"/>
                      <a:pt x="0" y="252232"/>
                    </a:cubicBezTo>
                    <a:cubicBezTo>
                      <a:pt x="0" y="181508"/>
                      <a:pt x="59579" y="124158"/>
                      <a:pt x="133074" y="124158"/>
                    </a:cubicBezTo>
                    <a:cubicBezTo>
                      <a:pt x="144304" y="73809"/>
                      <a:pt x="184337" y="32718"/>
                      <a:pt x="238087" y="16345"/>
                    </a:cubicBezTo>
                    <a:cubicBezTo>
                      <a:pt x="291808" y="0"/>
                      <a:pt x="351130" y="10830"/>
                      <a:pt x="393649" y="44920"/>
                    </a:cubicBezTo>
                    <a:cubicBezTo>
                      <a:pt x="436169" y="78924"/>
                      <a:pt x="455428" y="130845"/>
                      <a:pt x="444227" y="181194"/>
                    </a:cubicBezTo>
                    <a:lnTo>
                      <a:pt x="472516" y="181194"/>
                    </a:lnTo>
                    <a:cubicBezTo>
                      <a:pt x="527180" y="181194"/>
                      <a:pt x="571500" y="225771"/>
                      <a:pt x="571500" y="280807"/>
                    </a:cubicBezTo>
                    <a:cubicBezTo>
                      <a:pt x="571500" y="335871"/>
                      <a:pt x="527180" y="380448"/>
                      <a:pt x="472488" y="380448"/>
                    </a:cubicBezTo>
                    <a:lnTo>
                      <a:pt x="400050" y="380448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3" name="TextBox 83"/>
            <p:cNvSpPr/>
            <p:nvPr/>
          </p:nvSpPr>
          <p:spPr>
            <a:xfrm>
              <a:off x="9920520" y="5216040"/>
              <a:ext cx="1513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Cloud MCP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TextBox 84"/>
            <p:cNvSpPr/>
            <p:nvPr/>
          </p:nvSpPr>
          <p:spPr>
            <a:xfrm>
              <a:off x="10001880" y="5531040"/>
              <a:ext cx="1350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可扩展接入位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5" name="Group 88"/>
          <p:cNvGrpSpPr/>
          <p:nvPr/>
        </p:nvGrpSpPr>
        <p:grpSpPr>
          <a:xfrm>
            <a:off x="526680" y="6255000"/>
            <a:ext cx="11138400" cy="263520"/>
            <a:chOff x="526680" y="6255000"/>
            <a:chExt cx="11138400" cy="263520"/>
          </a:xfrm>
        </p:grpSpPr>
        <p:sp>
          <p:nvSpPr>
            <p:cNvPr id="386" name="TextBox 86"/>
            <p:cNvSpPr/>
            <p:nvPr/>
          </p:nvSpPr>
          <p:spPr>
            <a:xfrm>
              <a:off x="526680" y="6255000"/>
              <a:ext cx="392652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工具统一定义、分类、路由。构建可组合运维能力。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TextBox 87"/>
            <p:cNvSpPr/>
            <p:nvPr/>
          </p:nvSpPr>
          <p:spPr>
            <a:xfrm>
              <a:off x="10905120" y="625500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05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389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2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1" name="Group 8"/>
          <p:cNvGrpSpPr/>
          <p:nvPr/>
        </p:nvGrpSpPr>
        <p:grpSpPr>
          <a:xfrm>
            <a:off x="514440" y="235440"/>
            <a:ext cx="13559400" cy="1331640"/>
            <a:chOff x="514440" y="235440"/>
            <a:chExt cx="13559400" cy="1331640"/>
          </a:xfrm>
        </p:grpSpPr>
        <p:sp>
          <p:nvSpPr>
            <p:cNvPr id="392" name="TextBox 5"/>
            <p:cNvSpPr/>
            <p:nvPr/>
          </p:nvSpPr>
          <p:spPr>
            <a:xfrm>
              <a:off x="526680" y="235440"/>
              <a:ext cx="5490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SAFETY-06 / DETERMINISTIC PRE-EXECUTION GATES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TextBox 6"/>
            <p:cNvSpPr/>
            <p:nvPr/>
          </p:nvSpPr>
          <p:spPr>
            <a:xfrm>
              <a:off x="514440" y="569520"/>
              <a:ext cx="1355940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六个确定性检查点把模型不确定性挡在执行前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TextBox 7"/>
            <p:cNvSpPr/>
            <p:nvPr/>
          </p:nvSpPr>
          <p:spPr>
            <a:xfrm>
              <a:off x="543240" y="1215360"/>
              <a:ext cx="80121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安全边界由代码和状态机决定，不依赖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system prompt 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自觉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5" name="Group 14"/>
          <p:cNvGrpSpPr/>
          <p:nvPr/>
        </p:nvGrpSpPr>
        <p:grpSpPr>
          <a:xfrm>
            <a:off x="2190600" y="3047760"/>
            <a:ext cx="7677000" cy="0"/>
            <a:chOff x="2190600" y="3047760"/>
            <a:chExt cx="7677000" cy="0"/>
          </a:xfrm>
        </p:grpSpPr>
        <p:sp>
          <p:nvSpPr>
            <p:cNvPr id="396" name="Line 9"/>
            <p:cNvSpPr/>
            <p:nvPr/>
          </p:nvSpPr>
          <p:spPr>
            <a:xfrm>
              <a:off x="2190600" y="3047760"/>
              <a:ext cx="209520" cy="0"/>
            </a:xfrm>
            <a:prstGeom prst="line">
              <a:avLst/>
            </a:prstGeom>
            <a:ln w="28575">
              <a:solidFill>
                <a:srgbClr val="7cb7f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Line 10"/>
            <p:cNvSpPr/>
            <p:nvPr/>
          </p:nvSpPr>
          <p:spPr>
            <a:xfrm>
              <a:off x="4057560" y="3047760"/>
              <a:ext cx="209520" cy="0"/>
            </a:xfrm>
            <a:prstGeom prst="line">
              <a:avLst/>
            </a:prstGeom>
            <a:ln w="28575">
              <a:solidFill>
                <a:srgbClr val="7cb7f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Line 11"/>
            <p:cNvSpPr/>
            <p:nvPr/>
          </p:nvSpPr>
          <p:spPr>
            <a:xfrm>
              <a:off x="5924520" y="3047760"/>
              <a:ext cx="209520" cy="0"/>
            </a:xfrm>
            <a:prstGeom prst="line">
              <a:avLst/>
            </a:prstGeom>
            <a:ln w="28575">
              <a:solidFill>
                <a:srgbClr val="7cb7f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Line 12"/>
            <p:cNvSpPr/>
            <p:nvPr/>
          </p:nvSpPr>
          <p:spPr>
            <a:xfrm>
              <a:off x="7791120" y="3047760"/>
              <a:ext cx="209880" cy="0"/>
            </a:xfrm>
            <a:prstGeom prst="line">
              <a:avLst/>
            </a:prstGeom>
            <a:ln w="28575">
              <a:solidFill>
                <a:srgbClr val="7cb7f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Line 13"/>
            <p:cNvSpPr/>
            <p:nvPr/>
          </p:nvSpPr>
          <p:spPr>
            <a:xfrm>
              <a:off x="9658080" y="3047760"/>
              <a:ext cx="209520" cy="0"/>
            </a:xfrm>
            <a:prstGeom prst="line">
              <a:avLst/>
            </a:prstGeom>
            <a:ln w="28575">
              <a:solidFill>
                <a:srgbClr val="7cb7f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1" name="Group 23"/>
          <p:cNvGrpSpPr/>
          <p:nvPr/>
        </p:nvGrpSpPr>
        <p:grpSpPr>
          <a:xfrm>
            <a:off x="533520" y="2038320"/>
            <a:ext cx="1740600" cy="2018880"/>
            <a:chOff x="533520" y="2038320"/>
            <a:chExt cx="1740600" cy="2018880"/>
          </a:xfrm>
        </p:grpSpPr>
        <p:sp>
          <p:nvSpPr>
            <p:cNvPr id="402" name="Rectangle 15"/>
            <p:cNvSpPr/>
            <p:nvPr/>
          </p:nvSpPr>
          <p:spPr>
            <a:xfrm>
              <a:off x="533520" y="2038320"/>
              <a:ext cx="1657080" cy="2018880"/>
            </a:xfrm>
            <a:prstGeom prst="roundRect">
              <a:avLst>
                <a:gd name="adj" fmla="val 2874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Box 16"/>
            <p:cNvSpPr/>
            <p:nvPr/>
          </p:nvSpPr>
          <p:spPr>
            <a:xfrm>
              <a:off x="695880" y="2148840"/>
              <a:ext cx="36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01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4" name="Group 19"/>
            <p:cNvGrpSpPr/>
            <p:nvPr/>
          </p:nvGrpSpPr>
          <p:grpSpPr>
            <a:xfrm>
              <a:off x="1416600" y="2255040"/>
              <a:ext cx="418320" cy="385200"/>
              <a:chOff x="1416600" y="2255040"/>
              <a:chExt cx="418320" cy="385200"/>
            </a:xfrm>
          </p:grpSpPr>
          <p:sp>
            <p:nvSpPr>
              <p:cNvPr id="405" name="Freeform 17"/>
              <p:cNvSpPr/>
              <p:nvPr/>
            </p:nvSpPr>
            <p:spPr>
              <a:xfrm>
                <a:off x="1416600" y="2255040"/>
                <a:ext cx="418320" cy="381960"/>
              </a:xfrm>
              <a:custGeom>
                <a:avLst/>
                <a:gdLst>
                  <a:gd name="textAreaLeft" fmla="*/ 0 w 418320"/>
                  <a:gd name="textAreaRight" fmla="*/ 418680 w 418320"/>
                  <a:gd name="textAreaTop" fmla="*/ 0 h 381960"/>
                  <a:gd name="textAreaBottom" fmla="*/ 382320 h 381960"/>
                </a:gdLst>
                <a:ahLst/>
                <a:cxnLst/>
                <a:rect l="textAreaLeft" t="textAreaTop" r="textAreaRight" b="textAreaBottom"/>
                <a:pathLst>
                  <a:path w="418514" h="382462">
                    <a:moveTo>
                      <a:pt x="210231" y="382462"/>
                    </a:moveTo>
                    <a:cubicBezTo>
                      <a:pt x="75974" y="340845"/>
                      <a:pt x="0" y="199148"/>
                      <a:pt x="39638" y="64294"/>
                    </a:cubicBezTo>
                    <a:cubicBezTo>
                      <a:pt x="106408" y="67349"/>
                      <a:pt x="171744" y="44289"/>
                      <a:pt x="221804" y="0"/>
                    </a:cubicBezTo>
                    <a:cubicBezTo>
                      <a:pt x="271864" y="44289"/>
                      <a:pt x="337200" y="67349"/>
                      <a:pt x="403969" y="64294"/>
                    </a:cubicBezTo>
                    <a:cubicBezTo>
                      <a:pt x="418514" y="113781"/>
                      <a:pt x="417842" y="166498"/>
                      <a:pt x="402041" y="215598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eform 18"/>
              <p:cNvSpPr/>
              <p:nvPr/>
            </p:nvSpPr>
            <p:spPr>
              <a:xfrm>
                <a:off x="1702440" y="2554920"/>
                <a:ext cx="128160" cy="85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128588" h="85725">
                    <a:moveTo>
                      <a:pt x="0" y="42862"/>
                    </a:moveTo>
                    <a:lnTo>
                      <a:pt x="42862" y="85725"/>
                    </a:ln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0680" bIns="406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7" name="TextBox 20"/>
            <p:cNvSpPr/>
            <p:nvPr/>
          </p:nvSpPr>
          <p:spPr>
            <a:xfrm>
              <a:off x="695880" y="2834640"/>
              <a:ext cx="15782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输入安全门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TextBox 21"/>
            <p:cNvSpPr/>
            <p:nvPr/>
          </p:nvSpPr>
          <p:spPr>
            <a:xfrm>
              <a:off x="698040" y="3245040"/>
              <a:ext cx="1231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LLM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前拦截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TextBox 22"/>
            <p:cNvSpPr/>
            <p:nvPr/>
          </p:nvSpPr>
          <p:spPr>
            <a:xfrm>
              <a:off x="698040" y="3492720"/>
              <a:ext cx="1127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高置信注入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0" name="Group 35"/>
          <p:cNvGrpSpPr/>
          <p:nvPr/>
        </p:nvGrpSpPr>
        <p:grpSpPr>
          <a:xfrm>
            <a:off x="2400480" y="2038320"/>
            <a:ext cx="1740240" cy="2018880"/>
            <a:chOff x="2400480" y="2038320"/>
            <a:chExt cx="1740240" cy="2018880"/>
          </a:xfrm>
        </p:grpSpPr>
        <p:sp>
          <p:nvSpPr>
            <p:cNvPr id="411" name="Rectangle 24"/>
            <p:cNvSpPr/>
            <p:nvPr/>
          </p:nvSpPr>
          <p:spPr>
            <a:xfrm>
              <a:off x="2400480" y="2038320"/>
              <a:ext cx="1657080" cy="2018880"/>
            </a:xfrm>
            <a:prstGeom prst="roundRect">
              <a:avLst>
                <a:gd name="adj" fmla="val 2874"/>
              </a:avLst>
            </a:prstGeom>
            <a:solidFill>
              <a:srgbClr val="13223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TextBox 25"/>
            <p:cNvSpPr/>
            <p:nvPr/>
          </p:nvSpPr>
          <p:spPr>
            <a:xfrm>
              <a:off x="2562480" y="2148840"/>
              <a:ext cx="36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02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3" name="Group 31"/>
            <p:cNvGrpSpPr/>
            <p:nvPr/>
          </p:nvGrpSpPr>
          <p:grpSpPr>
            <a:xfrm>
              <a:off x="3355200" y="2255040"/>
              <a:ext cx="299880" cy="385560"/>
              <a:chOff x="3355200" y="2255040"/>
              <a:chExt cx="299880" cy="385560"/>
            </a:xfrm>
          </p:grpSpPr>
          <p:sp>
            <p:nvSpPr>
              <p:cNvPr id="414" name="Freeform 26"/>
              <p:cNvSpPr/>
              <p:nvPr/>
            </p:nvSpPr>
            <p:spPr>
              <a:xfrm>
                <a:off x="3548160" y="2255040"/>
                <a:ext cx="106920" cy="106920"/>
              </a:xfrm>
              <a:custGeom>
                <a:avLst/>
                <a:gdLst>
                  <a:gd name="textAreaLeft" fmla="*/ 0 w 106920"/>
                  <a:gd name="textAreaRight" fmla="*/ 107280 w 10692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107156" h="107156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97561"/>
                      <a:pt x="9595" y="107156"/>
                      <a:pt x="21431" y="107156"/>
                    </a:cubicBezTo>
                    <a:lnTo>
                      <a:pt x="107156" y="107156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5" name="Freeform 27"/>
              <p:cNvSpPr/>
              <p:nvPr/>
            </p:nvSpPr>
            <p:spPr>
              <a:xfrm>
                <a:off x="3355200" y="2255040"/>
                <a:ext cx="299520" cy="385560"/>
              </a:xfrm>
              <a:custGeom>
                <a:avLst/>
                <a:gdLst>
                  <a:gd name="textAreaLeft" fmla="*/ 0 w 299520"/>
                  <a:gd name="textAreaRight" fmla="*/ 299880 w 299520"/>
                  <a:gd name="textAreaTop" fmla="*/ 0 h 385560"/>
                  <a:gd name="textAreaBottom" fmla="*/ 385920 h 385560"/>
                </a:gdLst>
                <a:ahLst/>
                <a:cxnLst/>
                <a:rect l="textAreaLeft" t="textAreaTop" r="textAreaRight" b="textAreaBottom"/>
                <a:pathLst>
                  <a:path w="300038" h="385762">
                    <a:moveTo>
                      <a:pt x="257175" y="385762"/>
                    </a:moveTo>
                    <a:lnTo>
                      <a:pt x="42862" y="385762"/>
                    </a:lnTo>
                    <a:cubicBezTo>
                      <a:pt x="19190" y="385762"/>
                      <a:pt x="0" y="366572"/>
                      <a:pt x="0" y="342900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192881" y="0"/>
                    </a:lnTo>
                    <a:lnTo>
                      <a:pt x="300038" y="107156"/>
                    </a:lnTo>
                    <a:lnTo>
                      <a:pt x="300038" y="342900"/>
                    </a:lnTo>
                    <a:cubicBezTo>
                      <a:pt x="300038" y="366572"/>
                      <a:pt x="280847" y="385762"/>
                      <a:pt x="257175" y="385762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Freeform 28"/>
              <p:cNvSpPr/>
              <p:nvPr/>
            </p:nvSpPr>
            <p:spPr>
              <a:xfrm>
                <a:off x="3440880" y="2448000"/>
                <a:ext cx="9000" cy="10692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9525" h="107156">
                    <a:moveTo>
                      <a:pt x="0" y="10715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eform 29"/>
              <p:cNvSpPr/>
              <p:nvPr/>
            </p:nvSpPr>
            <p:spPr>
              <a:xfrm>
                <a:off x="3505320" y="2533680"/>
                <a:ext cx="9000" cy="212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21240"/>
                  <a:gd name="textAreaBottom" fmla="*/ 21600 h 21240"/>
                </a:gdLst>
                <a:ahLst/>
                <a:cxnLst/>
                <a:rect l="textAreaLeft" t="textAreaTop" r="textAreaRight" b="textAreaBottom"/>
                <a:pathLst>
                  <a:path w="9525" h="21431">
                    <a:moveTo>
                      <a:pt x="0" y="2143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3400" bIns="-234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eform 30"/>
              <p:cNvSpPr/>
              <p:nvPr/>
            </p:nvSpPr>
            <p:spPr>
              <a:xfrm>
                <a:off x="3569400" y="2490840"/>
                <a:ext cx="9000" cy="6408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64080"/>
                  <a:gd name="textAreaBottom" fmla="*/ 64440 h 64080"/>
                </a:gdLst>
                <a:ahLst/>
                <a:cxnLst/>
                <a:rect l="textAreaLeft" t="textAreaTop" r="textAreaRight" b="textAreaBottom"/>
                <a:pathLst>
                  <a:path w="9525" h="64294">
                    <a:moveTo>
                      <a:pt x="0" y="642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440" bIns="194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19" name="TextBox 32"/>
            <p:cNvSpPr/>
            <p:nvPr/>
          </p:nvSpPr>
          <p:spPr>
            <a:xfrm>
              <a:off x="2562480" y="2834640"/>
              <a:ext cx="15782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工具元数据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TextBox 33"/>
            <p:cNvSpPr/>
            <p:nvPr/>
          </p:nvSpPr>
          <p:spPr>
            <a:xfrm>
              <a:off x="2565000" y="3245040"/>
              <a:ext cx="905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读写属性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TextBox 34"/>
            <p:cNvSpPr/>
            <p:nvPr/>
          </p:nvSpPr>
          <p:spPr>
            <a:xfrm>
              <a:off x="2565000" y="3492720"/>
              <a:ext cx="1127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可回滚声明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2" name="Group 46"/>
          <p:cNvGrpSpPr/>
          <p:nvPr/>
        </p:nvGrpSpPr>
        <p:grpSpPr>
          <a:xfrm>
            <a:off x="4267080" y="2038320"/>
            <a:ext cx="1657080" cy="2018880"/>
            <a:chOff x="4267080" y="2038320"/>
            <a:chExt cx="1657080" cy="2018880"/>
          </a:xfrm>
        </p:grpSpPr>
        <p:sp>
          <p:nvSpPr>
            <p:cNvPr id="423" name="Rectangle 36"/>
            <p:cNvSpPr/>
            <p:nvPr/>
          </p:nvSpPr>
          <p:spPr>
            <a:xfrm>
              <a:off x="4267080" y="2038320"/>
              <a:ext cx="1657080" cy="2018880"/>
            </a:xfrm>
            <a:prstGeom prst="roundRect">
              <a:avLst>
                <a:gd name="adj" fmla="val 2874"/>
              </a:avLst>
            </a:prstGeom>
            <a:solidFill>
              <a:srgbClr val="132238"/>
            </a:solidFill>
            <a:ln w="28575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TextBox 37"/>
            <p:cNvSpPr/>
            <p:nvPr/>
          </p:nvSpPr>
          <p:spPr>
            <a:xfrm>
              <a:off x="4429440" y="2148840"/>
              <a:ext cx="36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03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5" name="Group 42"/>
            <p:cNvGrpSpPr/>
            <p:nvPr/>
          </p:nvGrpSpPr>
          <p:grpSpPr>
            <a:xfrm>
              <a:off x="5179320" y="2276640"/>
              <a:ext cx="385560" cy="342360"/>
              <a:chOff x="5179320" y="2276640"/>
              <a:chExt cx="385560" cy="342360"/>
            </a:xfrm>
          </p:grpSpPr>
          <p:sp>
            <p:nvSpPr>
              <p:cNvPr id="426" name="Freeform 38"/>
              <p:cNvSpPr/>
              <p:nvPr/>
            </p:nvSpPr>
            <p:spPr>
              <a:xfrm>
                <a:off x="5179320" y="2448000"/>
                <a:ext cx="385560" cy="106920"/>
              </a:xfrm>
              <a:custGeom>
                <a:avLst/>
                <a:gdLst>
                  <a:gd name="textAreaLeft" fmla="*/ 0 w 385560"/>
                  <a:gd name="textAreaRight" fmla="*/ 385920 w 38556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385762" h="107156">
                    <a:moveTo>
                      <a:pt x="385762" y="107156"/>
                    </a:moveTo>
                    <a:lnTo>
                      <a:pt x="214312" y="107156"/>
                    </a:lnTo>
                    <a:lnTo>
                      <a:pt x="139303" y="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eform 39"/>
              <p:cNvSpPr/>
              <p:nvPr/>
            </p:nvSpPr>
            <p:spPr>
              <a:xfrm>
                <a:off x="5318640" y="2340720"/>
                <a:ext cx="245880" cy="106920"/>
              </a:xfrm>
              <a:custGeom>
                <a:avLst/>
                <a:gdLst>
                  <a:gd name="textAreaLeft" fmla="*/ 0 w 245880"/>
                  <a:gd name="textAreaRight" fmla="*/ 246240 w 245880"/>
                  <a:gd name="textAreaTop" fmla="*/ 0 h 106920"/>
                  <a:gd name="textAreaBottom" fmla="*/ 107280 h 106920"/>
                </a:gdLst>
                <a:ahLst/>
                <a:cxnLst/>
                <a:rect l="textAreaLeft" t="textAreaTop" r="textAreaRight" b="textAreaBottom"/>
                <a:pathLst>
                  <a:path w="246352" h="107156">
                    <a:moveTo>
                      <a:pt x="246352" y="0"/>
                    </a:moveTo>
                    <a:lnTo>
                      <a:pt x="74902" y="0"/>
                    </a:ln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eform 40"/>
              <p:cNvSpPr/>
              <p:nvPr/>
            </p:nvSpPr>
            <p:spPr>
              <a:xfrm>
                <a:off x="5500800" y="2276640"/>
                <a:ext cx="64080" cy="128160"/>
              </a:xfrm>
              <a:custGeom>
                <a:avLst/>
                <a:gdLst>
                  <a:gd name="textAreaLeft" fmla="*/ 0 w 64080"/>
                  <a:gd name="textAreaRight" fmla="*/ 64440 w 64080"/>
                  <a:gd name="textAreaTop" fmla="*/ 0 h 128160"/>
                  <a:gd name="textAreaBottom" fmla="*/ 128520 h 128160"/>
                </a:gdLst>
                <a:ahLst/>
                <a:cxnLst/>
                <a:rect l="textAreaLeft" t="textAreaTop" r="textAreaRight" b="textAreaBottom"/>
                <a:pathLst>
                  <a:path w="64294" h="128588">
                    <a:moveTo>
                      <a:pt x="0" y="128588"/>
                    </a:moveTo>
                    <a:lnTo>
                      <a:pt x="64294" y="64294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eform 41"/>
              <p:cNvSpPr/>
              <p:nvPr/>
            </p:nvSpPr>
            <p:spPr>
              <a:xfrm>
                <a:off x="5500800" y="2490840"/>
                <a:ext cx="64080" cy="128160"/>
              </a:xfrm>
              <a:custGeom>
                <a:avLst/>
                <a:gdLst>
                  <a:gd name="textAreaLeft" fmla="*/ 0 w 64080"/>
                  <a:gd name="textAreaRight" fmla="*/ 64440 w 64080"/>
                  <a:gd name="textAreaTop" fmla="*/ 0 h 128160"/>
                  <a:gd name="textAreaBottom" fmla="*/ 128520 h 128160"/>
                </a:gdLst>
                <a:ahLst/>
                <a:cxnLst/>
                <a:rect l="textAreaLeft" t="textAreaTop" r="textAreaRight" b="textAreaBottom"/>
                <a:pathLst>
                  <a:path w="64294" h="128588">
                    <a:moveTo>
                      <a:pt x="0" y="128588"/>
                    </a:moveTo>
                    <a:lnTo>
                      <a:pt x="64294" y="64294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0" name="TextBox 43"/>
            <p:cNvSpPr/>
            <p:nvPr/>
          </p:nvSpPr>
          <p:spPr>
            <a:xfrm>
              <a:off x="4429440" y="283464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动态分类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Box 44"/>
            <p:cNvSpPr/>
            <p:nvPr/>
          </p:nvSpPr>
          <p:spPr>
            <a:xfrm>
              <a:off x="4431960" y="3245040"/>
              <a:ext cx="1127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可变工具按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TextBox 45"/>
            <p:cNvSpPr/>
            <p:nvPr/>
          </p:nvSpPr>
          <p:spPr>
            <a:xfrm>
              <a:off x="4431960" y="3492720"/>
              <a:ext cx="1350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本次参数判断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3" name="Group 57"/>
          <p:cNvGrpSpPr/>
          <p:nvPr/>
        </p:nvGrpSpPr>
        <p:grpSpPr>
          <a:xfrm>
            <a:off x="6134040" y="2038320"/>
            <a:ext cx="1657080" cy="2018880"/>
            <a:chOff x="6134040" y="2038320"/>
            <a:chExt cx="1657080" cy="2018880"/>
          </a:xfrm>
        </p:grpSpPr>
        <p:sp>
          <p:nvSpPr>
            <p:cNvPr id="434" name="Rectangle 47"/>
            <p:cNvSpPr/>
            <p:nvPr/>
          </p:nvSpPr>
          <p:spPr>
            <a:xfrm>
              <a:off x="6134040" y="2038320"/>
              <a:ext cx="1657080" cy="2018880"/>
            </a:xfrm>
            <a:prstGeom prst="roundRect">
              <a:avLst>
                <a:gd name="adj" fmla="val 2874"/>
              </a:avLst>
            </a:prstGeom>
            <a:solidFill>
              <a:srgbClr val="13223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TextBox 48"/>
            <p:cNvSpPr/>
            <p:nvPr/>
          </p:nvSpPr>
          <p:spPr>
            <a:xfrm>
              <a:off x="6296400" y="2148840"/>
              <a:ext cx="36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04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6" name="Group 53"/>
            <p:cNvGrpSpPr/>
            <p:nvPr/>
          </p:nvGrpSpPr>
          <p:grpSpPr>
            <a:xfrm>
              <a:off x="7089120" y="2276640"/>
              <a:ext cx="320760" cy="363600"/>
              <a:chOff x="7089120" y="2276640"/>
              <a:chExt cx="320760" cy="363600"/>
            </a:xfrm>
          </p:grpSpPr>
          <p:sp>
            <p:nvSpPr>
              <p:cNvPr id="437" name="Freeform 49"/>
              <p:cNvSpPr/>
              <p:nvPr/>
            </p:nvSpPr>
            <p:spPr>
              <a:xfrm>
                <a:off x="7089120" y="2276640"/>
                <a:ext cx="256680" cy="342720"/>
              </a:xfrm>
              <a:custGeom>
                <a:avLst/>
                <a:gdLst>
                  <a:gd name="textAreaLeft" fmla="*/ 0 w 256680"/>
                  <a:gd name="textAreaRight" fmla="*/ 257040 w 25668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257175" h="342900">
                    <a:moveTo>
                      <a:pt x="98905" y="342900"/>
                    </a:moveTo>
                    <a:lnTo>
                      <a:pt x="42862" y="342900"/>
                    </a:lnTo>
                    <a:cubicBezTo>
                      <a:pt x="19190" y="342900"/>
                      <a:pt x="0" y="323710"/>
                      <a:pt x="0" y="300038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14312" y="0"/>
                    </a:lnTo>
                    <a:cubicBezTo>
                      <a:pt x="237985" y="0"/>
                      <a:pt x="257175" y="19190"/>
                      <a:pt x="257175" y="42862"/>
                    </a:cubicBezTo>
                    <a:lnTo>
                      <a:pt x="257175" y="214312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eform 50"/>
              <p:cNvSpPr/>
              <p:nvPr/>
            </p:nvSpPr>
            <p:spPr>
              <a:xfrm>
                <a:off x="7281720" y="2554920"/>
                <a:ext cx="128160" cy="85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128588" h="85725">
                    <a:moveTo>
                      <a:pt x="0" y="42862"/>
                    </a:moveTo>
                    <a:lnTo>
                      <a:pt x="42862" y="85725"/>
                    </a:ln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0680" bIns="406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eform 51"/>
              <p:cNvSpPr/>
              <p:nvPr/>
            </p:nvSpPr>
            <p:spPr>
              <a:xfrm>
                <a:off x="7174800" y="2362320"/>
                <a:ext cx="85320" cy="900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0" name="Freeform 52"/>
              <p:cNvSpPr/>
              <p:nvPr/>
            </p:nvSpPr>
            <p:spPr>
              <a:xfrm>
                <a:off x="7174800" y="2448000"/>
                <a:ext cx="42480" cy="9000"/>
              </a:xfrm>
              <a:custGeom>
                <a:avLst/>
                <a:gdLst>
                  <a:gd name="textAreaLeft" fmla="*/ 0 w 42480"/>
                  <a:gd name="textAreaRight" fmla="*/ 42840 w 4248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42862" h="9525">
                    <a:moveTo>
                      <a:pt x="0" y="0"/>
                    </a:move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1" name="TextBox 54"/>
            <p:cNvSpPr/>
            <p:nvPr/>
          </p:nvSpPr>
          <p:spPr>
            <a:xfrm>
              <a:off x="6296400" y="283464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规则决策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TextBox 55"/>
            <p:cNvSpPr/>
            <p:nvPr/>
          </p:nvSpPr>
          <p:spPr>
            <a:xfrm>
              <a:off x="6298560" y="3245040"/>
              <a:ext cx="1461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blacklist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优先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TextBox 56"/>
            <p:cNvSpPr/>
            <p:nvPr/>
          </p:nvSpPr>
          <p:spPr>
            <a:xfrm>
              <a:off x="6298560" y="3492720"/>
              <a:ext cx="1139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Arial"/>
                </a:rPr>
                <a:t>fail closed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4" name="Group 68"/>
          <p:cNvGrpSpPr/>
          <p:nvPr/>
        </p:nvGrpSpPr>
        <p:grpSpPr>
          <a:xfrm>
            <a:off x="8001000" y="2038320"/>
            <a:ext cx="1860480" cy="2018880"/>
            <a:chOff x="8001000" y="2038320"/>
            <a:chExt cx="1860480" cy="2018880"/>
          </a:xfrm>
        </p:grpSpPr>
        <p:sp>
          <p:nvSpPr>
            <p:cNvPr id="445" name="Rectangle 58"/>
            <p:cNvSpPr/>
            <p:nvPr/>
          </p:nvSpPr>
          <p:spPr>
            <a:xfrm>
              <a:off x="8001000" y="2038320"/>
              <a:ext cx="1657080" cy="2018880"/>
            </a:xfrm>
            <a:prstGeom prst="roundRect">
              <a:avLst>
                <a:gd name="adj" fmla="val 2874"/>
              </a:avLst>
            </a:prstGeom>
            <a:solidFill>
              <a:srgbClr val="13223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TextBox 59"/>
            <p:cNvSpPr/>
            <p:nvPr/>
          </p:nvSpPr>
          <p:spPr>
            <a:xfrm>
              <a:off x="8163360" y="2148840"/>
              <a:ext cx="36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05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7" name="Group 64"/>
            <p:cNvGrpSpPr/>
            <p:nvPr/>
          </p:nvGrpSpPr>
          <p:grpSpPr>
            <a:xfrm>
              <a:off x="8955720" y="2255040"/>
              <a:ext cx="342720" cy="385200"/>
              <a:chOff x="8955720" y="2255040"/>
              <a:chExt cx="342720" cy="385200"/>
            </a:xfrm>
          </p:grpSpPr>
          <p:sp>
            <p:nvSpPr>
              <p:cNvPr id="448" name="Freeform 60"/>
              <p:cNvSpPr/>
              <p:nvPr/>
            </p:nvSpPr>
            <p:spPr>
              <a:xfrm>
                <a:off x="8955720" y="2426400"/>
                <a:ext cx="299520" cy="213840"/>
              </a:xfrm>
              <a:custGeom>
                <a:avLst/>
                <a:gdLst>
                  <a:gd name="textAreaLeft" fmla="*/ 0 w 299520"/>
                  <a:gd name="textAreaRight" fmla="*/ 299880 w 299520"/>
                  <a:gd name="textAreaTop" fmla="*/ 0 h 213840"/>
                  <a:gd name="textAreaBottom" fmla="*/ 214200 h 213840"/>
                </a:gdLst>
                <a:ahLst/>
                <a:cxnLst/>
                <a:rect l="textAreaLeft" t="textAreaTop" r="textAreaRight" b="textAreaBottom"/>
                <a:pathLst>
                  <a:path w="300038" h="214312">
                    <a:moveTo>
                      <a:pt x="139303" y="214312"/>
                    </a:moveTo>
                    <a:lnTo>
                      <a:pt x="42862" y="214312"/>
                    </a:lnTo>
                    <a:cubicBezTo>
                      <a:pt x="19190" y="214312"/>
                      <a:pt x="0" y="195122"/>
                      <a:pt x="0" y="171450"/>
                    </a:cubicBez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257175" y="0"/>
                    </a:lnTo>
                    <a:cubicBezTo>
                      <a:pt x="280847" y="0"/>
                      <a:pt x="300038" y="19190"/>
                      <a:pt x="300038" y="42862"/>
                    </a:cubicBezTo>
                    <a:lnTo>
                      <a:pt x="300038" y="53578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eform 61"/>
              <p:cNvSpPr/>
              <p:nvPr/>
            </p:nvSpPr>
            <p:spPr>
              <a:xfrm>
                <a:off x="9084600" y="2512080"/>
                <a:ext cx="42480" cy="42480"/>
              </a:xfrm>
              <a:custGeom>
                <a:avLst/>
                <a:gdLst>
                  <a:gd name="textAreaLeft" fmla="*/ 0 w 42480"/>
                  <a:gd name="textAreaRight" fmla="*/ 42840 w 42480"/>
                  <a:gd name="textAreaTop" fmla="*/ 0 h 42480"/>
                  <a:gd name="textAreaBottom" fmla="*/ 42840 h 42480"/>
                </a:gdLst>
                <a:ahLst/>
                <a:cxnLst/>
                <a:rect l="textAreaLeft" t="textAreaTop" r="textAreaRight" b="textAreaBottom"/>
                <a:pathLst>
                  <a:path w="42862" h="42862">
                    <a:moveTo>
                      <a:pt x="0" y="21431"/>
                    </a:moveTo>
                    <a:cubicBezTo>
                      <a:pt x="0" y="33267"/>
                      <a:pt x="9595" y="42862"/>
                      <a:pt x="21431" y="42862"/>
                    </a:cubicBezTo>
                    <a:cubicBezTo>
                      <a:pt x="33267" y="42862"/>
                      <a:pt x="42862" y="33267"/>
                      <a:pt x="42862" y="21431"/>
                    </a:cubicBezTo>
                    <a:cubicBezTo>
                      <a:pt x="42862" y="9595"/>
                      <a:pt x="33267" y="0"/>
                      <a:pt x="21431" y="0"/>
                    </a:cubicBezTo>
                    <a:cubicBezTo>
                      <a:pt x="9595" y="0"/>
                      <a:pt x="0" y="9595"/>
                      <a:pt x="0" y="21431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160" bIns="-21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0" name="Freeform 62"/>
              <p:cNvSpPr/>
              <p:nvPr/>
            </p:nvSpPr>
            <p:spPr>
              <a:xfrm>
                <a:off x="9020160" y="2255040"/>
                <a:ext cx="171000" cy="17100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171000"/>
                  <a:gd name="textAreaBottom" fmla="*/ 171360 h 171000"/>
                </a:gdLst>
                <a:ahLst/>
                <a:cxnLst/>
                <a:rect l="textAreaLeft" t="textAreaTop" r="textAreaRight" b="textAreaBottom"/>
                <a:pathLst>
                  <a:path w="171450" h="171450">
                    <a:moveTo>
                      <a:pt x="0" y="171450"/>
                    </a:moveTo>
                    <a:lnTo>
                      <a:pt x="0" y="85725"/>
                    </a:ln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lnTo>
                      <a:pt x="171450" y="17145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1" name="Freeform 63"/>
              <p:cNvSpPr/>
              <p:nvPr/>
            </p:nvSpPr>
            <p:spPr>
              <a:xfrm>
                <a:off x="9170280" y="2554920"/>
                <a:ext cx="128160" cy="85320"/>
              </a:xfrm>
              <a:custGeom>
                <a:avLst/>
                <a:gdLst>
                  <a:gd name="textAreaLeft" fmla="*/ 0 w 128160"/>
                  <a:gd name="textAreaRight" fmla="*/ 128520 w 128160"/>
                  <a:gd name="textAreaTop" fmla="*/ 0 h 85320"/>
                  <a:gd name="textAreaBottom" fmla="*/ 85680 h 85320"/>
                </a:gdLst>
                <a:ahLst/>
                <a:cxnLst/>
                <a:rect l="textAreaLeft" t="textAreaTop" r="textAreaRight" b="textAreaBottom"/>
                <a:pathLst>
                  <a:path w="128588" h="85725">
                    <a:moveTo>
                      <a:pt x="0" y="42862"/>
                    </a:moveTo>
                    <a:lnTo>
                      <a:pt x="42862" y="85725"/>
                    </a:lnTo>
                    <a:lnTo>
                      <a:pt x="128588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0680" bIns="406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2" name="TextBox 65"/>
            <p:cNvSpPr/>
            <p:nvPr/>
          </p:nvSpPr>
          <p:spPr>
            <a:xfrm>
              <a:off x="8163360" y="283464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人工审批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TextBox 66"/>
            <p:cNvSpPr/>
            <p:nvPr/>
          </p:nvSpPr>
          <p:spPr>
            <a:xfrm>
              <a:off x="8165520" y="3245040"/>
              <a:ext cx="1573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高风险等待用户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4" name="TextBox 67"/>
            <p:cNvSpPr/>
            <p:nvPr/>
          </p:nvSpPr>
          <p:spPr>
            <a:xfrm>
              <a:off x="8165520" y="3492720"/>
              <a:ext cx="1695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绑定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request_id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5" name="Group 78"/>
          <p:cNvGrpSpPr/>
          <p:nvPr/>
        </p:nvGrpSpPr>
        <p:grpSpPr>
          <a:xfrm>
            <a:off x="9867960" y="2038320"/>
            <a:ext cx="1790280" cy="2018880"/>
            <a:chOff x="9867960" y="2038320"/>
            <a:chExt cx="1790280" cy="2018880"/>
          </a:xfrm>
        </p:grpSpPr>
        <p:sp>
          <p:nvSpPr>
            <p:cNvPr id="456" name="Rectangle 69"/>
            <p:cNvSpPr/>
            <p:nvPr/>
          </p:nvSpPr>
          <p:spPr>
            <a:xfrm>
              <a:off x="9867960" y="2038320"/>
              <a:ext cx="1790280" cy="2018880"/>
            </a:xfrm>
            <a:prstGeom prst="roundRect">
              <a:avLst>
                <a:gd name="adj" fmla="val 2660"/>
              </a:avLst>
            </a:prstGeom>
            <a:solidFill>
              <a:srgbClr val="132238"/>
            </a:solidFill>
            <a:ln w="28575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TextBox 70"/>
            <p:cNvSpPr/>
            <p:nvPr/>
          </p:nvSpPr>
          <p:spPr>
            <a:xfrm>
              <a:off x="10030320" y="2148840"/>
              <a:ext cx="36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06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58" name="Group 74"/>
            <p:cNvGrpSpPr/>
            <p:nvPr/>
          </p:nvGrpSpPr>
          <p:grpSpPr>
            <a:xfrm>
              <a:off x="10913400" y="2276640"/>
              <a:ext cx="385560" cy="342720"/>
              <a:chOff x="10913400" y="2276640"/>
              <a:chExt cx="385560" cy="342720"/>
            </a:xfrm>
          </p:grpSpPr>
          <p:sp>
            <p:nvSpPr>
              <p:cNvPr id="459" name="Freeform 71"/>
              <p:cNvSpPr/>
              <p:nvPr/>
            </p:nvSpPr>
            <p:spPr>
              <a:xfrm>
                <a:off x="11020320" y="2383560"/>
                <a:ext cx="64080" cy="128160"/>
              </a:xfrm>
              <a:custGeom>
                <a:avLst/>
                <a:gdLst>
                  <a:gd name="textAreaLeft" fmla="*/ 0 w 64080"/>
                  <a:gd name="textAreaRight" fmla="*/ 64440 w 64080"/>
                  <a:gd name="textAreaTop" fmla="*/ 0 h 128160"/>
                  <a:gd name="textAreaBottom" fmla="*/ 128520 h 128160"/>
                </a:gdLst>
                <a:ahLst/>
                <a:cxnLst/>
                <a:rect l="textAreaLeft" t="textAreaTop" r="textAreaRight" b="textAreaBottom"/>
                <a:pathLst>
                  <a:path w="64294" h="128588">
                    <a:moveTo>
                      <a:pt x="0" y="0"/>
                    </a:moveTo>
                    <a:lnTo>
                      <a:pt x="64294" y="64294"/>
                    </a:lnTo>
                    <a:lnTo>
                      <a:pt x="0" y="128588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eform 72"/>
              <p:cNvSpPr/>
              <p:nvPr/>
            </p:nvSpPr>
            <p:spPr>
              <a:xfrm>
                <a:off x="11127600" y="2512080"/>
                <a:ext cx="64080" cy="9000"/>
              </a:xfrm>
              <a:custGeom>
                <a:avLst/>
                <a:gdLst>
                  <a:gd name="textAreaLeft" fmla="*/ 0 w 64080"/>
                  <a:gd name="textAreaRight" fmla="*/ 64440 w 6408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64294" h="9525">
                    <a:moveTo>
                      <a:pt x="0" y="0"/>
                    </a:moveTo>
                    <a:lnTo>
                      <a:pt x="64294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eform 73"/>
              <p:cNvSpPr/>
              <p:nvPr/>
            </p:nvSpPr>
            <p:spPr>
              <a:xfrm>
                <a:off x="10913400" y="2276640"/>
                <a:ext cx="385560" cy="342720"/>
              </a:xfrm>
              <a:custGeom>
                <a:avLst/>
                <a:gdLst>
                  <a:gd name="textAreaLeft" fmla="*/ 0 w 385560"/>
                  <a:gd name="textAreaRight" fmla="*/ 385920 w 38556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385762" h="342900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lnTo>
                      <a:pt x="342900" y="0"/>
                    </a:lnTo>
                    <a:cubicBezTo>
                      <a:pt x="366572" y="0"/>
                      <a:pt x="385762" y="19190"/>
                      <a:pt x="385762" y="42862"/>
                    </a:cubicBezTo>
                    <a:lnTo>
                      <a:pt x="385762" y="300038"/>
                    </a:lnTo>
                    <a:cubicBezTo>
                      <a:pt x="385762" y="323710"/>
                      <a:pt x="366572" y="342900"/>
                      <a:pt x="342900" y="342900"/>
                    </a:cubicBezTo>
                    <a:lnTo>
                      <a:pt x="42862" y="342900"/>
                    </a:lnTo>
                    <a:cubicBezTo>
                      <a:pt x="19190" y="342900"/>
                      <a:pt x="0" y="323710"/>
                      <a:pt x="0" y="300038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2" name="TextBox 75"/>
            <p:cNvSpPr/>
            <p:nvPr/>
          </p:nvSpPr>
          <p:spPr>
            <a:xfrm>
              <a:off x="10030320" y="2834640"/>
              <a:ext cx="15782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执行前复核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TextBox 76"/>
            <p:cNvSpPr/>
            <p:nvPr/>
          </p:nvSpPr>
          <p:spPr>
            <a:xfrm>
              <a:off x="10032480" y="3245040"/>
              <a:ext cx="15177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状态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/ chat_id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TextBox 77"/>
            <p:cNvSpPr/>
            <p:nvPr/>
          </p:nvSpPr>
          <p:spPr>
            <a:xfrm>
              <a:off x="10032480" y="3492720"/>
              <a:ext cx="1350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共享鉴权校验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5" name="Group 86"/>
          <p:cNvGrpSpPr/>
          <p:nvPr/>
        </p:nvGrpSpPr>
        <p:grpSpPr>
          <a:xfrm>
            <a:off x="533520" y="4057560"/>
            <a:ext cx="4561920" cy="933120"/>
            <a:chOff x="533520" y="4057560"/>
            <a:chExt cx="4561920" cy="933120"/>
          </a:xfrm>
        </p:grpSpPr>
        <p:sp>
          <p:nvSpPr>
            <p:cNvPr id="466" name="Freeform 79"/>
            <p:cNvSpPr/>
            <p:nvPr/>
          </p:nvSpPr>
          <p:spPr>
            <a:xfrm>
              <a:off x="2952720" y="4057560"/>
              <a:ext cx="2142720" cy="495000"/>
            </a:xfrm>
            <a:custGeom>
              <a:avLst/>
              <a:gdLst>
                <a:gd name="textAreaLeft" fmla="*/ 0 w 2142720"/>
                <a:gd name="textAreaRight" fmla="*/ 2143080 w 2142720"/>
                <a:gd name="textAreaTop" fmla="*/ 0 h 495000"/>
                <a:gd name="textAreaBottom" fmla="*/ 495360 h 495000"/>
              </a:gdLst>
              <a:ahLst/>
              <a:cxnLst/>
              <a:rect l="textAreaLeft" t="textAreaTop" r="textAreaRight" b="textAreaBottom"/>
              <a:pathLst>
                <a:path w="2143125" h="495300">
                  <a:moveTo>
                    <a:pt x="2143125" y="0"/>
                  </a:moveTo>
                  <a:lnTo>
                    <a:pt x="2143125" y="495300"/>
                  </a:lnTo>
                  <a:lnTo>
                    <a:pt x="0" y="495300"/>
                  </a:lnTo>
                </a:path>
              </a:pathLst>
            </a:custGeom>
            <a:noFill/>
            <a:ln w="28575">
              <a:solidFill>
                <a:srgbClr val="ff6b6b"/>
              </a:solidFill>
              <a:custDash>
                <a:ds d="233000" sp="166000"/>
              </a:custDash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Rectangle 80"/>
            <p:cNvSpPr/>
            <p:nvPr/>
          </p:nvSpPr>
          <p:spPr>
            <a:xfrm>
              <a:off x="533520" y="4324320"/>
              <a:ext cx="2418840" cy="666360"/>
            </a:xfrm>
            <a:prstGeom prst="roundRect">
              <a:avLst>
                <a:gd name="adj" fmla="val 7143"/>
              </a:avLst>
            </a:prstGeom>
            <a:solidFill>
              <a:srgbClr val="18253a"/>
            </a:solidFill>
            <a:ln w="19050">
              <a:solidFill>
                <a:srgbClr val="ff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8" name="Group 84"/>
            <p:cNvGrpSpPr/>
            <p:nvPr/>
          </p:nvGrpSpPr>
          <p:grpSpPr>
            <a:xfrm>
              <a:off x="751320" y="4524480"/>
              <a:ext cx="287640" cy="247320"/>
              <a:chOff x="751320" y="4524480"/>
              <a:chExt cx="287640" cy="247320"/>
            </a:xfrm>
          </p:grpSpPr>
          <p:sp>
            <p:nvSpPr>
              <p:cNvPr id="469" name="Freeform 81"/>
              <p:cNvSpPr/>
              <p:nvPr/>
            </p:nvSpPr>
            <p:spPr>
              <a:xfrm>
                <a:off x="895320" y="4614840"/>
                <a:ext cx="9000" cy="5688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ff6b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0" name="Freeform 82"/>
              <p:cNvSpPr/>
              <p:nvPr/>
            </p:nvSpPr>
            <p:spPr>
              <a:xfrm>
                <a:off x="751320" y="4524480"/>
                <a:ext cx="287640" cy="247320"/>
              </a:xfrm>
              <a:custGeom>
                <a:avLst/>
                <a:gdLst>
                  <a:gd name="textAreaLeft" fmla="*/ 0 w 287640"/>
                  <a:gd name="textAreaRight" fmla="*/ 288000 w 287640"/>
                  <a:gd name="textAreaTop" fmla="*/ 0 h 247320"/>
                  <a:gd name="textAreaBottom" fmla="*/ 247680 h 247320"/>
                </a:gdLst>
                <a:ahLst/>
                <a:cxnLst/>
                <a:rect l="textAreaLeft" t="textAreaTop" r="textAreaRight" b="textAreaBottom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19050">
                <a:solidFill>
                  <a:srgbClr val="ff6b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1" name="Freeform 83"/>
              <p:cNvSpPr/>
              <p:nvPr/>
            </p:nvSpPr>
            <p:spPr>
              <a:xfrm>
                <a:off x="895320" y="4714920"/>
                <a:ext cx="9000" cy="900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ff6b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2" name="TextBox 85"/>
            <p:cNvSpPr/>
            <p:nvPr/>
          </p:nvSpPr>
          <p:spPr>
            <a:xfrm>
              <a:off x="1190880" y="4539600"/>
              <a:ext cx="25142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任一节点均可拒绝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3" name="Group 94"/>
          <p:cNvGrpSpPr/>
          <p:nvPr/>
        </p:nvGrpSpPr>
        <p:grpSpPr>
          <a:xfrm>
            <a:off x="533520" y="5257800"/>
            <a:ext cx="11124720" cy="804960"/>
            <a:chOff x="533520" y="5257800"/>
            <a:chExt cx="11124720" cy="804960"/>
          </a:xfrm>
        </p:grpSpPr>
        <p:sp>
          <p:nvSpPr>
            <p:cNvPr id="474" name="Rectangle 87"/>
            <p:cNvSpPr/>
            <p:nvPr/>
          </p:nvSpPr>
          <p:spPr>
            <a:xfrm>
              <a:off x="533520" y="5257800"/>
              <a:ext cx="11124720" cy="742680"/>
            </a:xfrm>
            <a:prstGeom prst="roundRect">
              <a:avLst>
                <a:gd name="adj" fmla="val 5128"/>
              </a:avLst>
            </a:prstGeom>
            <a:solidFill>
              <a:srgbClr val="18253a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5" name="Group 91"/>
            <p:cNvGrpSpPr/>
            <p:nvPr/>
          </p:nvGrpSpPr>
          <p:grpSpPr>
            <a:xfrm>
              <a:off x="809640" y="5479200"/>
              <a:ext cx="266400" cy="299880"/>
              <a:chOff x="809640" y="5479200"/>
              <a:chExt cx="266400" cy="299880"/>
            </a:xfrm>
          </p:grpSpPr>
          <p:sp>
            <p:nvSpPr>
              <p:cNvPr id="476" name="Freeform 88"/>
              <p:cNvSpPr/>
              <p:nvPr/>
            </p:nvSpPr>
            <p:spPr>
              <a:xfrm>
                <a:off x="809640" y="5479200"/>
                <a:ext cx="266400" cy="9972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266700" h="100012">
                    <a:moveTo>
                      <a:pt x="0" y="50006"/>
                    </a:moveTo>
                    <a:cubicBezTo>
                      <a:pt x="0" y="77624"/>
                      <a:pt x="59703" y="100012"/>
                      <a:pt x="133350" y="100012"/>
                    </a:cubicBezTo>
                    <a:cubicBezTo>
                      <a:pt x="206997" y="100012"/>
                      <a:pt x="266700" y="77624"/>
                      <a:pt x="266700" y="50006"/>
                    </a:cubicBezTo>
                    <a:cubicBezTo>
                      <a:pt x="266700" y="22389"/>
                      <a:pt x="206997" y="0"/>
                      <a:pt x="133350" y="0"/>
                    </a:cubicBezTo>
                    <a:cubicBezTo>
                      <a:pt x="59703" y="0"/>
                      <a:pt x="0" y="22389"/>
                      <a:pt x="0" y="50006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7" name="Freeform 89"/>
              <p:cNvSpPr/>
              <p:nvPr/>
            </p:nvSpPr>
            <p:spPr>
              <a:xfrm>
                <a:off x="809640" y="5529240"/>
                <a:ext cx="266400" cy="14976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eform 90"/>
              <p:cNvSpPr/>
              <p:nvPr/>
            </p:nvSpPr>
            <p:spPr>
              <a:xfrm>
                <a:off x="809640" y="5629320"/>
                <a:ext cx="266400" cy="14976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149760"/>
                  <a:gd name="textAreaBottom" fmla="*/ 150120 h 149760"/>
                </a:gdLst>
                <a:ahLst/>
                <a:cxnLst/>
                <a:rect l="textAreaLeft" t="textAreaTop" r="textAreaRight" b="textAreaBottom"/>
                <a:pathLst>
                  <a:path w="266700" h="150019">
                    <a:moveTo>
                      <a:pt x="0" y="0"/>
                    </a:moveTo>
                    <a:lnTo>
                      <a:pt x="0" y="100012"/>
                    </a:lnTo>
                    <a:cubicBezTo>
                      <a:pt x="0" y="127630"/>
                      <a:pt x="59703" y="150019"/>
                      <a:pt x="133350" y="150019"/>
                    </a:cubicBezTo>
                    <a:cubicBezTo>
                      <a:pt x="206997" y="150019"/>
                      <a:pt x="266700" y="127630"/>
                      <a:pt x="266700" y="100012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9" name="TextBox 92"/>
            <p:cNvSpPr/>
            <p:nvPr/>
          </p:nvSpPr>
          <p:spPr>
            <a:xfrm>
              <a:off x="1286280" y="5406480"/>
              <a:ext cx="15912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AUDIT RAIL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TextBox 93"/>
            <p:cNvSpPr/>
            <p:nvPr/>
          </p:nvSpPr>
          <p:spPr>
            <a:xfrm>
              <a:off x="1286280" y="5711040"/>
              <a:ext cx="7447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决定、审批、执行结果与错误贯穿记录，刷新后可恢复。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1" name="Group 97"/>
          <p:cNvGrpSpPr/>
          <p:nvPr/>
        </p:nvGrpSpPr>
        <p:grpSpPr>
          <a:xfrm>
            <a:off x="526680" y="6274080"/>
            <a:ext cx="11138400" cy="263520"/>
            <a:chOff x="526680" y="6274080"/>
            <a:chExt cx="11138400" cy="263520"/>
          </a:xfrm>
        </p:grpSpPr>
        <p:sp>
          <p:nvSpPr>
            <p:cNvPr id="482" name="TextBox 95"/>
            <p:cNvSpPr/>
            <p:nvPr/>
          </p:nvSpPr>
          <p:spPr>
            <a:xfrm>
              <a:off x="526680" y="6274080"/>
              <a:ext cx="6510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六道执行前护栏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+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全程审计，把模型建议转换为确定性系统行为。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TextBox 96"/>
            <p:cNvSpPr/>
            <p:nvPr/>
          </p:nvSpPr>
          <p:spPr>
            <a:xfrm>
              <a:off x="10905120" y="627408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06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485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2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7" name="Group 8"/>
          <p:cNvGrpSpPr/>
          <p:nvPr/>
        </p:nvGrpSpPr>
        <p:grpSpPr>
          <a:xfrm>
            <a:off x="514440" y="235440"/>
            <a:ext cx="9800640" cy="1610280"/>
            <a:chOff x="514440" y="235440"/>
            <a:chExt cx="9800640" cy="1610280"/>
          </a:xfrm>
        </p:grpSpPr>
        <p:sp>
          <p:nvSpPr>
            <p:cNvPr id="488" name="TextBox 5"/>
            <p:cNvSpPr/>
            <p:nvPr/>
          </p:nvSpPr>
          <p:spPr>
            <a:xfrm>
              <a:off x="526680" y="235440"/>
              <a:ext cx="4662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BASH-RISK / PER-CALL AST CLASSIFICATION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TextBox 6"/>
            <p:cNvSpPr/>
            <p:nvPr/>
          </p:nvSpPr>
          <p:spPr>
            <a:xfrm>
              <a:off x="514440" y="531360"/>
              <a:ext cx="861876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Bash 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每次按参数动态分类，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TextBox 7"/>
            <p:cNvSpPr/>
            <p:nvPr/>
          </p:nvSpPr>
          <p:spPr>
            <a:xfrm>
              <a:off x="514440" y="1083960"/>
              <a:ext cx="980064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fb84d"/>
                  </a:solidFill>
                  <a:effectLst/>
                  <a:uFillTx/>
                  <a:latin typeface="Segoe UI"/>
                  <a:ea typeface="Microsoft YaHei"/>
                </a:rPr>
                <a:t>P95 0.0412 ms </a:t>
              </a:r>
              <a:r>
                <a:rPr lang="zh-CN" sz="3900" b="1" u="none" strike="noStrike">
                  <a:solidFill>
                    <a:srgbClr val="ffb84d"/>
                  </a:solidFill>
                  <a:effectLst/>
                  <a:uFillTx/>
                  <a:latin typeface="Segoe UI"/>
                  <a:ea typeface="Microsoft YaHei"/>
                </a:rPr>
                <a:t>换来细粒度控制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1" name="Group 14"/>
          <p:cNvGrpSpPr/>
          <p:nvPr/>
        </p:nvGrpSpPr>
        <p:grpSpPr>
          <a:xfrm>
            <a:off x="533520" y="1790640"/>
            <a:ext cx="3333240" cy="1257120"/>
            <a:chOff x="533520" y="1790640"/>
            <a:chExt cx="3333240" cy="1257120"/>
          </a:xfrm>
        </p:grpSpPr>
        <p:sp>
          <p:nvSpPr>
            <p:cNvPr id="492" name="Rectangle 9"/>
            <p:cNvSpPr/>
            <p:nvPr/>
          </p:nvSpPr>
          <p:spPr>
            <a:xfrm>
              <a:off x="533520" y="1790640"/>
              <a:ext cx="3333240" cy="1257120"/>
            </a:xfrm>
            <a:prstGeom prst="roundRect">
              <a:avLst>
                <a:gd name="adj" fmla="val 3788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TextBox 10"/>
            <p:cNvSpPr/>
            <p:nvPr/>
          </p:nvSpPr>
          <p:spPr>
            <a:xfrm>
              <a:off x="733680" y="1920240"/>
              <a:ext cx="13255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$ ls /tmp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Freeform 11"/>
            <p:cNvSpPr/>
            <p:nvPr/>
          </p:nvSpPr>
          <p:spPr>
            <a:xfrm>
              <a:off x="743040" y="232416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TextBox 12"/>
            <p:cNvSpPr/>
            <p:nvPr/>
          </p:nvSpPr>
          <p:spPr>
            <a:xfrm>
              <a:off x="733680" y="2453760"/>
              <a:ext cx="17496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safe = true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TextBox 13"/>
            <p:cNvSpPr/>
            <p:nvPr/>
          </p:nvSpPr>
          <p:spPr>
            <a:xfrm>
              <a:off x="736200" y="2768760"/>
              <a:ext cx="2464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只读快路径，免人工审批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97" name="Group 20"/>
          <p:cNvGrpSpPr/>
          <p:nvPr/>
        </p:nvGrpSpPr>
        <p:grpSpPr>
          <a:xfrm>
            <a:off x="4429080" y="1790640"/>
            <a:ext cx="3333240" cy="1257120"/>
            <a:chOff x="4429080" y="1790640"/>
            <a:chExt cx="3333240" cy="1257120"/>
          </a:xfrm>
        </p:grpSpPr>
        <p:sp>
          <p:nvSpPr>
            <p:cNvPr id="498" name="Rectangle 15"/>
            <p:cNvSpPr/>
            <p:nvPr/>
          </p:nvSpPr>
          <p:spPr>
            <a:xfrm>
              <a:off x="4429080" y="1790640"/>
              <a:ext cx="3333240" cy="1257120"/>
            </a:xfrm>
            <a:prstGeom prst="roundRect">
              <a:avLst>
                <a:gd name="adj" fmla="val 3788"/>
              </a:avLst>
            </a:prstGeom>
            <a:solidFill>
              <a:srgbClr val="13223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TextBox 16"/>
            <p:cNvSpPr/>
            <p:nvPr/>
          </p:nvSpPr>
          <p:spPr>
            <a:xfrm>
              <a:off x="4629600" y="1920240"/>
              <a:ext cx="20386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$ rm -rf /tmp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eform 17"/>
            <p:cNvSpPr/>
            <p:nvPr/>
          </p:nvSpPr>
          <p:spPr>
            <a:xfrm>
              <a:off x="4638600" y="232416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TextBox 18"/>
            <p:cNvSpPr/>
            <p:nvPr/>
          </p:nvSpPr>
          <p:spPr>
            <a:xfrm>
              <a:off x="4629600" y="2453760"/>
              <a:ext cx="18432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safe = 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TextBox 19"/>
            <p:cNvSpPr/>
            <p:nvPr/>
          </p:nvSpPr>
          <p:spPr>
            <a:xfrm>
              <a:off x="4631760" y="2768760"/>
              <a:ext cx="20192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进入规则与人工审批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3" name="Group 26"/>
          <p:cNvGrpSpPr/>
          <p:nvPr/>
        </p:nvGrpSpPr>
        <p:grpSpPr>
          <a:xfrm>
            <a:off x="8325000" y="1790640"/>
            <a:ext cx="3442320" cy="1257120"/>
            <a:chOff x="8325000" y="1790640"/>
            <a:chExt cx="3442320" cy="1257120"/>
          </a:xfrm>
        </p:grpSpPr>
        <p:sp>
          <p:nvSpPr>
            <p:cNvPr id="504" name="Rectangle 21"/>
            <p:cNvSpPr/>
            <p:nvPr/>
          </p:nvSpPr>
          <p:spPr>
            <a:xfrm>
              <a:off x="8325000" y="1790640"/>
              <a:ext cx="3333240" cy="1257120"/>
            </a:xfrm>
            <a:prstGeom prst="roundRect">
              <a:avLst>
                <a:gd name="adj" fmla="val 3788"/>
              </a:avLst>
            </a:prstGeom>
            <a:solidFill>
              <a:srgbClr val="132238"/>
            </a:solidFill>
            <a:ln w="19050">
              <a:solidFill>
                <a:srgbClr val="ff6b6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TextBox 22"/>
            <p:cNvSpPr/>
            <p:nvPr/>
          </p:nvSpPr>
          <p:spPr>
            <a:xfrm>
              <a:off x="8525160" y="1920240"/>
              <a:ext cx="32421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direct call: bash(...)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eform 23"/>
            <p:cNvSpPr/>
            <p:nvPr/>
          </p:nvSpPr>
          <p:spPr>
            <a:xfrm>
              <a:off x="8534520" y="2324160"/>
              <a:ext cx="2857320" cy="9000"/>
            </a:xfrm>
            <a:custGeom>
              <a:avLst/>
              <a:gdLst>
                <a:gd name="textAreaLeft" fmla="*/ 0 w 2857320"/>
                <a:gd name="textAreaRight" fmla="*/ 2857680 w 28573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TextBox 24"/>
            <p:cNvSpPr/>
            <p:nvPr/>
          </p:nvSpPr>
          <p:spPr>
            <a:xfrm>
              <a:off x="8525160" y="2453760"/>
              <a:ext cx="14752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6b6b"/>
                  </a:solidFill>
                  <a:effectLst/>
                  <a:uFillTx/>
                  <a:latin typeface="Consolas"/>
                  <a:ea typeface="Consolas"/>
                </a:rPr>
                <a:t>REJECTED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TextBox 25"/>
            <p:cNvSpPr/>
            <p:nvPr/>
          </p:nvSpPr>
          <p:spPr>
            <a:xfrm>
              <a:off x="8527680" y="2768760"/>
              <a:ext cx="31226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必须经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execute_tool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受控执行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9" name="Group 35"/>
          <p:cNvGrpSpPr/>
          <p:nvPr/>
        </p:nvGrpSpPr>
        <p:grpSpPr>
          <a:xfrm>
            <a:off x="533520" y="3352680"/>
            <a:ext cx="5371920" cy="2247480"/>
            <a:chOff x="533520" y="3352680"/>
            <a:chExt cx="5371920" cy="2247480"/>
          </a:xfrm>
        </p:grpSpPr>
        <p:sp>
          <p:nvSpPr>
            <p:cNvPr id="510" name="Rectangle 27"/>
            <p:cNvSpPr/>
            <p:nvPr/>
          </p:nvSpPr>
          <p:spPr>
            <a:xfrm>
              <a:off x="533520" y="3352680"/>
              <a:ext cx="5371920" cy="2247480"/>
            </a:xfrm>
            <a:prstGeom prst="roundRect">
              <a:avLst>
                <a:gd name="adj" fmla="val 2119"/>
              </a:avLst>
            </a:prstGeom>
            <a:solidFill>
              <a:srgbClr val="0b1320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1" name="Group 31"/>
            <p:cNvGrpSpPr/>
            <p:nvPr/>
          </p:nvGrpSpPr>
          <p:grpSpPr>
            <a:xfrm>
              <a:off x="788040" y="3584520"/>
              <a:ext cx="271440" cy="240840"/>
              <a:chOff x="788040" y="3584520"/>
              <a:chExt cx="271440" cy="240840"/>
            </a:xfrm>
          </p:grpSpPr>
          <p:sp>
            <p:nvSpPr>
              <p:cNvPr id="512" name="Freeform 28"/>
              <p:cNvSpPr/>
              <p:nvPr/>
            </p:nvSpPr>
            <p:spPr>
              <a:xfrm>
                <a:off x="788040" y="3645000"/>
                <a:ext cx="60120" cy="120240"/>
              </a:xfrm>
              <a:custGeom>
                <a:avLst/>
                <a:gdLst>
                  <a:gd name="textAreaLeft" fmla="*/ 0 w 60120"/>
                  <a:gd name="textAreaRight" fmla="*/ 60480 w 60120"/>
                  <a:gd name="textAreaTop" fmla="*/ 0 h 120240"/>
                  <a:gd name="textAreaBottom" fmla="*/ 120600 h 120240"/>
                </a:gdLst>
                <a:ahLst/>
                <a:cxnLst/>
                <a:rect l="textAreaLeft" t="textAreaTop" r="textAreaRight" b="textAreaBottom"/>
                <a:pathLst>
                  <a:path w="60325" h="120650">
                    <a:moveTo>
                      <a:pt x="60325" y="0"/>
                    </a:moveTo>
                    <a:lnTo>
                      <a:pt x="0" y="60325"/>
                    </a:lnTo>
                    <a:lnTo>
                      <a:pt x="60325" y="12065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eform 29"/>
              <p:cNvSpPr/>
              <p:nvPr/>
            </p:nvSpPr>
            <p:spPr>
              <a:xfrm>
                <a:off x="999360" y="3645000"/>
                <a:ext cx="60120" cy="120240"/>
              </a:xfrm>
              <a:custGeom>
                <a:avLst/>
                <a:gdLst>
                  <a:gd name="textAreaLeft" fmla="*/ 0 w 60120"/>
                  <a:gd name="textAreaRight" fmla="*/ 60480 w 60120"/>
                  <a:gd name="textAreaTop" fmla="*/ 0 h 120240"/>
                  <a:gd name="textAreaBottom" fmla="*/ 120600 h 120240"/>
                </a:gdLst>
                <a:ahLst/>
                <a:cxnLst/>
                <a:rect l="textAreaLeft" t="textAreaTop" r="textAreaRight" b="textAreaBottom"/>
                <a:pathLst>
                  <a:path w="60325" h="120650">
                    <a:moveTo>
                      <a:pt x="0" y="0"/>
                    </a:moveTo>
                    <a:lnTo>
                      <a:pt x="60325" y="60325"/>
                    </a:lnTo>
                    <a:lnTo>
                      <a:pt x="0" y="12065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eform 30"/>
              <p:cNvSpPr/>
              <p:nvPr/>
            </p:nvSpPr>
            <p:spPr>
              <a:xfrm>
                <a:off x="893880" y="3584520"/>
                <a:ext cx="60120" cy="240840"/>
              </a:xfrm>
              <a:custGeom>
                <a:avLst/>
                <a:gdLst>
                  <a:gd name="textAreaLeft" fmla="*/ 0 w 60120"/>
                  <a:gd name="textAreaRight" fmla="*/ 60480 w 60120"/>
                  <a:gd name="textAreaTop" fmla="*/ 0 h 240840"/>
                  <a:gd name="textAreaBottom" fmla="*/ 241200 h 240840"/>
                </a:gdLst>
                <a:ahLst/>
                <a:cxnLst/>
                <a:rect l="textAreaLeft" t="textAreaTop" r="textAreaRight" b="textAreaBottom"/>
                <a:pathLst>
                  <a:path w="60325" h="241299">
                    <a:moveTo>
                      <a:pt x="60325" y="0"/>
                    </a:moveTo>
                    <a:lnTo>
                      <a:pt x="0" y="241299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5" name="TextBox 32"/>
            <p:cNvSpPr/>
            <p:nvPr/>
          </p:nvSpPr>
          <p:spPr>
            <a:xfrm>
              <a:off x="1229040" y="3596760"/>
              <a:ext cx="20581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tool_catalog.py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TextBox 33"/>
            <p:cNvSpPr/>
            <p:nvPr/>
          </p:nvSpPr>
          <p:spPr>
            <a:xfrm>
              <a:off x="733680" y="4034880"/>
              <a:ext cx="4297320" cy="132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ts val="2551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name=f"{tool_name}_classify", meta={"hidden": True, "is_read_only": True, "mutable": False}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TextBox 34"/>
            <p:cNvSpPr/>
            <p:nvPr/>
          </p:nvSpPr>
          <p:spPr>
            <a:xfrm>
              <a:off x="736200" y="5321520"/>
              <a:ext cx="426780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隐藏伴生工具：服务端可调用， </a:t>
              </a: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LLM </a:t>
              </a: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不可见工具列表。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8" name="Group 43"/>
          <p:cNvGrpSpPr/>
          <p:nvPr/>
        </p:nvGrpSpPr>
        <p:grpSpPr>
          <a:xfrm>
            <a:off x="6286680" y="3352680"/>
            <a:ext cx="5371920" cy="2247480"/>
            <a:chOff x="6286680" y="3352680"/>
            <a:chExt cx="5371920" cy="2247480"/>
          </a:xfrm>
        </p:grpSpPr>
        <p:sp>
          <p:nvSpPr>
            <p:cNvPr id="519" name="Rectangle 36"/>
            <p:cNvSpPr/>
            <p:nvPr/>
          </p:nvSpPr>
          <p:spPr>
            <a:xfrm>
              <a:off x="6286680" y="3352680"/>
              <a:ext cx="5371920" cy="2247480"/>
            </a:xfrm>
            <a:prstGeom prst="roundRect">
              <a:avLst>
                <a:gd name="adj" fmla="val 2119"/>
              </a:avLst>
            </a:prstGeom>
            <a:solidFill>
              <a:srgbClr val="0b1320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0" name="Group 39"/>
            <p:cNvGrpSpPr/>
            <p:nvPr/>
          </p:nvGrpSpPr>
          <p:grpSpPr>
            <a:xfrm>
              <a:off x="6521040" y="3569400"/>
              <a:ext cx="294120" cy="271440"/>
              <a:chOff x="6521040" y="3569400"/>
              <a:chExt cx="294120" cy="271440"/>
            </a:xfrm>
          </p:grpSpPr>
          <p:sp>
            <p:nvSpPr>
              <p:cNvPr id="521" name="Freeform 37"/>
              <p:cNvSpPr/>
              <p:nvPr/>
            </p:nvSpPr>
            <p:spPr>
              <a:xfrm>
                <a:off x="6521040" y="3569400"/>
                <a:ext cx="294120" cy="268920"/>
              </a:xfrm>
              <a:custGeom>
                <a:avLst/>
                <a:gdLst>
                  <a:gd name="textAreaLeft" fmla="*/ 0 w 294120"/>
                  <a:gd name="textAreaRight" fmla="*/ 294480 w 294120"/>
                  <a:gd name="textAreaTop" fmla="*/ 0 h 268920"/>
                  <a:gd name="textAreaBottom" fmla="*/ 269280 h 268920"/>
                </a:gdLst>
                <a:ahLst/>
                <a:cxnLst/>
                <a:rect l="textAreaLeft" t="textAreaTop" r="textAreaRight" b="textAreaBottom"/>
                <a:pathLst>
                  <a:path w="294509" h="269139">
                    <a:moveTo>
                      <a:pt x="147940" y="269139"/>
                    </a:moveTo>
                    <a:cubicBezTo>
                      <a:pt x="53463" y="239854"/>
                      <a:pt x="0" y="140141"/>
                      <a:pt x="27893" y="45244"/>
                    </a:cubicBezTo>
                    <a:cubicBezTo>
                      <a:pt x="74879" y="47394"/>
                      <a:pt x="120857" y="31166"/>
                      <a:pt x="156084" y="0"/>
                    </a:cubicBezTo>
                    <a:cubicBezTo>
                      <a:pt x="191311" y="31166"/>
                      <a:pt x="237288" y="47394"/>
                      <a:pt x="284274" y="45244"/>
                    </a:cubicBezTo>
                    <a:cubicBezTo>
                      <a:pt x="294509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2" name="Freeform 38"/>
              <p:cNvSpPr/>
              <p:nvPr/>
            </p:nvSpPr>
            <p:spPr>
              <a:xfrm>
                <a:off x="6722280" y="3780720"/>
                <a:ext cx="90000" cy="60120"/>
              </a:xfrm>
              <a:custGeom>
                <a:avLst/>
                <a:gdLst>
                  <a:gd name="textAreaLeft" fmla="*/ 0 w 90000"/>
                  <a:gd name="textAreaRight" fmla="*/ 90360 w 90000"/>
                  <a:gd name="textAreaTop" fmla="*/ 0 h 60120"/>
                  <a:gd name="textAreaBottom" fmla="*/ 60480 h 60120"/>
                </a:gdLst>
                <a:ahLst/>
                <a:cxnLst/>
                <a:rect l="textAreaLeft" t="textAreaTop" r="textAreaRight" b="textAreaBottom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5480" bIns="1548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3" name="TextBox 40"/>
            <p:cNvSpPr/>
            <p:nvPr/>
          </p:nvSpPr>
          <p:spPr>
            <a:xfrm>
              <a:off x="6982200" y="3596760"/>
              <a:ext cx="123516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review.py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TextBox 41"/>
            <p:cNvSpPr/>
            <p:nvPr/>
          </p:nvSpPr>
          <p:spPr>
            <a:xfrm>
              <a:off x="6486840" y="4034880"/>
              <a:ext cx="4818600" cy="132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457200">
                <a:lnSpc>
                  <a:spcPts val="2551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if tc.mutable: classification = await classify(...) except Exception: </a:t>
              </a:r>
              <a:r>
                <a:rPr lang="en-US" sz="180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classification = {"safe": False}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TextBox 42"/>
            <p:cNvSpPr/>
            <p:nvPr/>
          </p:nvSpPr>
          <p:spPr>
            <a:xfrm>
              <a:off x="6489360" y="5321520"/>
              <a:ext cx="4916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解析或分类失败一律按危险处理，拒绝乐观放行。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6" name="Group 47"/>
          <p:cNvGrpSpPr/>
          <p:nvPr/>
        </p:nvGrpSpPr>
        <p:grpSpPr>
          <a:xfrm>
            <a:off x="524160" y="5905440"/>
            <a:ext cx="11134080" cy="462240"/>
            <a:chOff x="524160" y="5905440"/>
            <a:chExt cx="11134080" cy="462240"/>
          </a:xfrm>
        </p:grpSpPr>
        <p:sp>
          <p:nvSpPr>
            <p:cNvPr id="527" name="Freeform 44"/>
            <p:cNvSpPr/>
            <p:nvPr/>
          </p:nvSpPr>
          <p:spPr>
            <a:xfrm>
              <a:off x="533520" y="5905440"/>
              <a:ext cx="11124720" cy="9000"/>
            </a:xfrm>
            <a:custGeom>
              <a:avLst/>
              <a:gdLst>
                <a:gd name="textAreaLeft" fmla="*/ 0 w 11124720"/>
                <a:gd name="textAreaRight" fmla="*/ 11125080 w 111247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TextBox 45"/>
            <p:cNvSpPr/>
            <p:nvPr/>
          </p:nvSpPr>
          <p:spPr>
            <a:xfrm>
              <a:off x="524160" y="6015960"/>
              <a:ext cx="3172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tree-sitter-bash AST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TextBox 46"/>
            <p:cNvSpPr/>
            <p:nvPr/>
          </p:nvSpPr>
          <p:spPr>
            <a:xfrm>
              <a:off x="3553200" y="6015960"/>
              <a:ext cx="65412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检查命令、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flag</a:t>
              </a: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、路径、重定向、替换与网络访问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0" name="Group 50"/>
          <p:cNvGrpSpPr/>
          <p:nvPr/>
        </p:nvGrpSpPr>
        <p:grpSpPr>
          <a:xfrm>
            <a:off x="526680" y="6426360"/>
            <a:ext cx="11138400" cy="263520"/>
            <a:chOff x="526680" y="6426360"/>
            <a:chExt cx="11138400" cy="263520"/>
          </a:xfrm>
        </p:grpSpPr>
        <p:sp>
          <p:nvSpPr>
            <p:cNvPr id="531" name="TextBox 48"/>
            <p:cNvSpPr/>
            <p:nvPr/>
          </p:nvSpPr>
          <p:spPr>
            <a:xfrm>
              <a:off x="526680" y="6426360"/>
              <a:ext cx="551376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本地组件基线：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12,000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次样本；不含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LLM/MCP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网络与工具执行耗时。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TextBox 49"/>
            <p:cNvSpPr/>
            <p:nvPr/>
          </p:nvSpPr>
          <p:spPr>
            <a:xfrm>
              <a:off x="10905120" y="642636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07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534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38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6" name="Group 8"/>
          <p:cNvGrpSpPr/>
          <p:nvPr/>
        </p:nvGrpSpPr>
        <p:grpSpPr>
          <a:xfrm>
            <a:off x="514440" y="235440"/>
            <a:ext cx="12883320" cy="1331640"/>
            <a:chOff x="514440" y="235440"/>
            <a:chExt cx="12883320" cy="1331640"/>
          </a:xfrm>
        </p:grpSpPr>
        <p:sp>
          <p:nvSpPr>
            <p:cNvPr id="537" name="TextBox 5"/>
            <p:cNvSpPr/>
            <p:nvPr/>
          </p:nvSpPr>
          <p:spPr>
            <a:xfrm>
              <a:off x="526680" y="235440"/>
              <a:ext cx="39880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UI-EVIDENCE / EDITABLE TOOL TRACE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TextBox 6"/>
            <p:cNvSpPr/>
            <p:nvPr/>
          </p:nvSpPr>
          <p:spPr>
            <a:xfrm>
              <a:off x="514440" y="569520"/>
              <a:ext cx="1288332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工具证据卡让评审直接核对审批与执行结果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TextBox 7"/>
            <p:cNvSpPr/>
            <p:nvPr/>
          </p:nvSpPr>
          <p:spPr>
            <a:xfrm>
              <a:off x="543240" y="1215360"/>
              <a:ext cx="9230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无需读代码，也能看到工具归属、风险属性、参数、状态、结果和耗时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40" name="Group 37"/>
          <p:cNvGrpSpPr/>
          <p:nvPr/>
        </p:nvGrpSpPr>
        <p:grpSpPr>
          <a:xfrm>
            <a:off x="533520" y="1752480"/>
            <a:ext cx="7105680" cy="4171680"/>
            <a:chOff x="533520" y="1752480"/>
            <a:chExt cx="7105680" cy="4171680"/>
          </a:xfrm>
        </p:grpSpPr>
        <p:sp>
          <p:nvSpPr>
            <p:cNvPr id="541" name="Rectangle 9"/>
            <p:cNvSpPr/>
            <p:nvPr/>
          </p:nvSpPr>
          <p:spPr>
            <a:xfrm>
              <a:off x="533520" y="1752480"/>
              <a:ext cx="7086240" cy="4171680"/>
            </a:xfrm>
            <a:prstGeom prst="roundRect">
              <a:avLst>
                <a:gd name="adj" fmla="val 1370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Rectangle 10"/>
            <p:cNvSpPr/>
            <p:nvPr/>
          </p:nvSpPr>
          <p:spPr>
            <a:xfrm>
              <a:off x="533520" y="1752480"/>
              <a:ext cx="7086240" cy="742680"/>
            </a:xfrm>
            <a:prstGeom prst="rect">
              <a:avLst/>
            </a:prstGeom>
            <a:solidFill>
              <a:srgbClr val="18253a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Rectangle 11"/>
            <p:cNvSpPr/>
            <p:nvPr/>
          </p:nvSpPr>
          <p:spPr>
            <a:xfrm>
              <a:off x="743040" y="1952640"/>
              <a:ext cx="514080" cy="342720"/>
            </a:xfrm>
            <a:prstGeom prst="roundRect">
              <a:avLst>
                <a:gd name="adj" fmla="val 11111"/>
              </a:avLst>
            </a:prstGeom>
            <a:solidFill>
              <a:srgbClr val="ffb8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4" name="TextBox 12"/>
            <p:cNvSpPr/>
            <p:nvPr/>
          </p:nvSpPr>
          <p:spPr>
            <a:xfrm>
              <a:off x="866880" y="2005920"/>
              <a:ext cx="266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101828"/>
                  </a:solidFill>
                  <a:effectLst/>
                  <a:uFillTx/>
                  <a:latin typeface="Consolas"/>
                  <a:ea typeface="Consolas"/>
                </a:rPr>
                <a:t>W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TextBox 13"/>
            <p:cNvSpPr/>
            <p:nvPr/>
          </p:nvSpPr>
          <p:spPr>
            <a:xfrm>
              <a:off x="1416600" y="1941120"/>
              <a:ext cx="93924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bash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TextBox 14"/>
            <p:cNvSpPr/>
            <p:nvPr/>
          </p:nvSpPr>
          <p:spPr>
            <a:xfrm>
              <a:off x="2355480" y="2045160"/>
              <a:ext cx="13060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b9c6d8"/>
                  </a:solidFill>
                  <a:effectLst/>
                  <a:uFillTx/>
                  <a:latin typeface="Consolas"/>
                  <a:ea typeface="Consolas"/>
                </a:rPr>
                <a:t>tool-server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7" name="Group 19"/>
            <p:cNvGrpSpPr/>
            <p:nvPr/>
          </p:nvGrpSpPr>
          <p:grpSpPr>
            <a:xfrm>
              <a:off x="5119560" y="1986120"/>
              <a:ext cx="228240" cy="256680"/>
              <a:chOff x="5119560" y="1986120"/>
              <a:chExt cx="228240" cy="256680"/>
            </a:xfrm>
          </p:grpSpPr>
          <p:sp>
            <p:nvSpPr>
              <p:cNvPr id="548" name="Freeform 15"/>
              <p:cNvSpPr/>
              <p:nvPr/>
            </p:nvSpPr>
            <p:spPr>
              <a:xfrm>
                <a:off x="5119560" y="2100240"/>
                <a:ext cx="199800" cy="142560"/>
              </a:xfrm>
              <a:custGeom>
                <a:avLst/>
                <a:gdLst>
                  <a:gd name="textAreaLeft" fmla="*/ 0 w 199800"/>
                  <a:gd name="textAreaRight" fmla="*/ 200160 w 199800"/>
                  <a:gd name="textAreaTop" fmla="*/ 0 h 142560"/>
                  <a:gd name="textAreaBottom" fmla="*/ 142920 h 142560"/>
                </a:gdLst>
                <a:ahLst/>
                <a:cxnLst/>
                <a:rect l="textAreaLeft" t="textAreaTop" r="textAreaRight" b="textAreaBottom"/>
                <a:pathLst>
                  <a:path w="200025" h="142875">
                    <a:moveTo>
                      <a:pt x="92869" y="142875"/>
                    </a:moveTo>
                    <a:lnTo>
                      <a:pt x="28575" y="142875"/>
                    </a:lnTo>
                    <a:cubicBezTo>
                      <a:pt x="12793" y="142875"/>
                      <a:pt x="0" y="130082"/>
                      <a:pt x="0" y="1143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71450" y="0"/>
                    </a:lnTo>
                    <a:cubicBezTo>
                      <a:pt x="187232" y="0"/>
                      <a:pt x="200025" y="12793"/>
                      <a:pt x="200025" y="28575"/>
                    </a:cubicBezTo>
                    <a:lnTo>
                      <a:pt x="200025" y="35719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eform 16"/>
              <p:cNvSpPr/>
              <p:nvPr/>
            </p:nvSpPr>
            <p:spPr>
              <a:xfrm>
                <a:off x="5205240" y="2157480"/>
                <a:ext cx="28080" cy="28080"/>
              </a:xfrm>
              <a:custGeom>
                <a:avLst/>
                <a:gdLst>
                  <a:gd name="textAreaLeft" fmla="*/ 0 w 28080"/>
                  <a:gd name="textAreaRight" fmla="*/ 28440 w 28080"/>
                  <a:gd name="textAreaTop" fmla="*/ 0 h 28080"/>
                  <a:gd name="textAreaBottom" fmla="*/ 28440 h 28080"/>
                </a:gdLst>
                <a:ahLst/>
                <a:cxnLst/>
                <a:rect l="textAreaLeft" t="textAreaTop" r="textAreaRight" b="textAreaBottom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16560" bIns="-1656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eform 17"/>
              <p:cNvSpPr/>
              <p:nvPr/>
            </p:nvSpPr>
            <p:spPr>
              <a:xfrm>
                <a:off x="5162400" y="1986120"/>
                <a:ext cx="114120" cy="114120"/>
              </a:xfrm>
              <a:custGeom>
                <a:avLst/>
                <a:gdLst>
                  <a:gd name="textAreaLeft" fmla="*/ 0 w 114120"/>
                  <a:gd name="textAreaRight" fmla="*/ 114480 w 114120"/>
                  <a:gd name="textAreaTop" fmla="*/ 0 h 114120"/>
                  <a:gd name="textAreaBottom" fmla="*/ 114480 h 114120"/>
                </a:gdLst>
                <a:ahLst/>
                <a:cxnLst/>
                <a:rect l="textAreaLeft" t="textAreaTop" r="textAreaRight" b="textAreaBottom"/>
                <a:pathLst>
                  <a:path w="114300" h="114300">
                    <a:moveTo>
                      <a:pt x="0" y="114300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eform 18"/>
              <p:cNvSpPr/>
              <p:nvPr/>
            </p:nvSpPr>
            <p:spPr>
              <a:xfrm>
                <a:off x="5262480" y="2185920"/>
                <a:ext cx="85320" cy="5688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2" name="TextBox 20"/>
            <p:cNvSpPr/>
            <p:nvPr/>
          </p:nvSpPr>
          <p:spPr>
            <a:xfrm>
              <a:off x="5496480" y="1996560"/>
              <a:ext cx="954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fb84d"/>
                  </a:solidFill>
                  <a:effectLst/>
                  <a:uFillTx/>
                  <a:latin typeface="Arial"/>
                  <a:ea typeface="Microsoft YaHei"/>
                </a:rPr>
                <a:t>已批准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3" name="Group 23"/>
            <p:cNvGrpSpPr/>
            <p:nvPr/>
          </p:nvGrpSpPr>
          <p:grpSpPr>
            <a:xfrm>
              <a:off x="6291360" y="1986120"/>
              <a:ext cx="256680" cy="256680"/>
              <a:chOff x="6291360" y="1986120"/>
              <a:chExt cx="256680" cy="256680"/>
            </a:xfrm>
          </p:grpSpPr>
          <p:sp>
            <p:nvSpPr>
              <p:cNvPr id="554" name="Freeform 21"/>
              <p:cNvSpPr/>
              <p:nvPr/>
            </p:nvSpPr>
            <p:spPr>
              <a:xfrm>
                <a:off x="6291360" y="1986120"/>
                <a:ext cx="256680" cy="256680"/>
              </a:xfrm>
              <a:custGeom>
                <a:avLst/>
                <a:gdLst>
                  <a:gd name="textAreaLeft" fmla="*/ 0 w 256680"/>
                  <a:gd name="textAreaRight" fmla="*/ 257040 w 256680"/>
                  <a:gd name="textAreaTop" fmla="*/ 0 h 256680"/>
                  <a:gd name="textAreaBottom" fmla="*/ 257040 h 256680"/>
                </a:gdLst>
                <a:ahLst/>
                <a:cxnLst/>
                <a:rect l="textAreaLeft" t="textAreaTop" r="textAreaRight" b="textAreaBottom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Freeform 22"/>
              <p:cNvSpPr/>
              <p:nvPr/>
            </p:nvSpPr>
            <p:spPr>
              <a:xfrm>
                <a:off x="6377040" y="2085840"/>
                <a:ext cx="85320" cy="56880"/>
              </a:xfrm>
              <a:custGeom>
                <a:avLst/>
                <a:gdLst>
                  <a:gd name="textAreaLeft" fmla="*/ 0 w 85320"/>
                  <a:gd name="textAreaRight" fmla="*/ 85680 w 8532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6" name="TextBox 24"/>
            <p:cNvSpPr/>
            <p:nvPr/>
          </p:nvSpPr>
          <p:spPr>
            <a:xfrm>
              <a:off x="6463440" y="1996560"/>
              <a:ext cx="1032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128 ms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TextBox 25"/>
            <p:cNvSpPr/>
            <p:nvPr/>
          </p:nvSpPr>
          <p:spPr>
            <a:xfrm>
              <a:off x="752760" y="268236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安全属性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TextBox 26"/>
            <p:cNvSpPr/>
            <p:nvPr/>
          </p:nvSpPr>
          <p:spPr>
            <a:xfrm>
              <a:off x="752760" y="3044160"/>
              <a:ext cx="12067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可变工具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TextBox 27"/>
            <p:cNvSpPr/>
            <p:nvPr/>
          </p:nvSpPr>
          <p:spPr>
            <a:xfrm>
              <a:off x="2162520" y="3044160"/>
              <a:ext cx="12067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不可回滚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TextBox 28"/>
            <p:cNvSpPr/>
            <p:nvPr/>
          </p:nvSpPr>
          <p:spPr>
            <a:xfrm>
              <a:off x="3572280" y="3044160"/>
              <a:ext cx="2098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fb84d"/>
                  </a:solidFill>
                  <a:effectLst/>
                  <a:uFillTx/>
                  <a:latin typeface="Arial"/>
                  <a:ea typeface="Microsoft YaHei"/>
                </a:rPr>
                <a:t>本次分类：危险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TextBox 29"/>
            <p:cNvSpPr/>
            <p:nvPr/>
          </p:nvSpPr>
          <p:spPr>
            <a:xfrm>
              <a:off x="5898600" y="3092760"/>
              <a:ext cx="17406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request_id 8f2a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Freeform 30"/>
            <p:cNvSpPr/>
            <p:nvPr/>
          </p:nvSpPr>
          <p:spPr>
            <a:xfrm>
              <a:off x="762120" y="3448080"/>
              <a:ext cx="6629040" cy="9000"/>
            </a:xfrm>
            <a:custGeom>
              <a:avLst/>
              <a:gdLst>
                <a:gd name="textAreaLeft" fmla="*/ 0 w 6629040"/>
                <a:gd name="textAreaRight" fmla="*/ 6629400 w 66290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TextBox 31"/>
            <p:cNvSpPr/>
            <p:nvPr/>
          </p:nvSpPr>
          <p:spPr>
            <a:xfrm>
              <a:off x="752760" y="363492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完整参数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Rectangle 32"/>
            <p:cNvSpPr/>
            <p:nvPr/>
          </p:nvSpPr>
          <p:spPr>
            <a:xfrm>
              <a:off x="762120" y="4000680"/>
              <a:ext cx="6629040" cy="609120"/>
            </a:xfrm>
            <a:prstGeom prst="roundRect">
              <a:avLst>
                <a:gd name="adj" fmla="val 6250"/>
              </a:avLst>
            </a:prstGeom>
            <a:solidFill>
              <a:srgbClr val="0b1320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TextBox 33"/>
            <p:cNvSpPr/>
            <p:nvPr/>
          </p:nvSpPr>
          <p:spPr>
            <a:xfrm>
              <a:off x="924480" y="4187160"/>
              <a:ext cx="5382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command: "systemctl restart nginx"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TextBox 34"/>
            <p:cNvSpPr/>
            <p:nvPr/>
          </p:nvSpPr>
          <p:spPr>
            <a:xfrm>
              <a:off x="752760" y="4815720"/>
              <a:ext cx="1266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执行结果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Rectangle 35"/>
            <p:cNvSpPr/>
            <p:nvPr/>
          </p:nvSpPr>
          <p:spPr>
            <a:xfrm>
              <a:off x="762120" y="5181480"/>
              <a:ext cx="6629040" cy="514080"/>
            </a:xfrm>
            <a:prstGeom prst="roundRect">
              <a:avLst>
                <a:gd name="adj" fmla="val 7407"/>
              </a:avLst>
            </a:prstGeom>
            <a:solidFill>
              <a:srgbClr val="0b1320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TextBox 36"/>
            <p:cNvSpPr/>
            <p:nvPr/>
          </p:nvSpPr>
          <p:spPr>
            <a:xfrm>
              <a:off x="924480" y="5311080"/>
              <a:ext cx="5382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5fe0c1"/>
                  </a:solidFill>
                  <a:effectLst/>
                  <a:uFillTx/>
                  <a:latin typeface="Consolas"/>
                  <a:ea typeface="Consolas"/>
                </a:rPr>
                <a:t>exit_code=0 service active (running)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9" name="Group 42"/>
          <p:cNvGrpSpPr/>
          <p:nvPr/>
        </p:nvGrpSpPr>
        <p:grpSpPr>
          <a:xfrm>
            <a:off x="8020080" y="1752480"/>
            <a:ext cx="4398120" cy="1199880"/>
            <a:chOff x="8020080" y="1752480"/>
            <a:chExt cx="4398120" cy="1199880"/>
          </a:xfrm>
        </p:grpSpPr>
        <p:sp>
          <p:nvSpPr>
            <p:cNvPr id="570" name="Rectangle 38"/>
            <p:cNvSpPr/>
            <p:nvPr/>
          </p:nvSpPr>
          <p:spPr>
            <a:xfrm>
              <a:off x="8020080" y="1752480"/>
              <a:ext cx="3638160" cy="1199880"/>
            </a:xfrm>
            <a:prstGeom prst="roundRect">
              <a:avLst>
                <a:gd name="adj" fmla="val 4762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Freeform 39"/>
            <p:cNvSpPr/>
            <p:nvPr/>
          </p:nvSpPr>
          <p:spPr>
            <a:xfrm>
              <a:off x="8305920" y="2114640"/>
              <a:ext cx="342720" cy="228240"/>
            </a:xfrm>
            <a:custGeom>
              <a:avLst/>
              <a:gdLst>
                <a:gd name="textAreaLeft" fmla="*/ 0 w 342720"/>
                <a:gd name="textAreaRight" fmla="*/ 343080 w 342720"/>
                <a:gd name="textAreaTop" fmla="*/ 0 h 228240"/>
                <a:gd name="textAreaBottom" fmla="*/ 228600 h 228240"/>
              </a:gdLst>
              <a:ahLst/>
              <a:cxnLst/>
              <a:rect l="textAreaLeft" t="textAreaTop" r="textAreaRight" b="textAreaBottom"/>
              <a:pathLst>
                <a:path w="342900" h="228600">
                  <a:moveTo>
                    <a:pt x="0" y="114300"/>
                  </a:moveTo>
                  <a:lnTo>
                    <a:pt x="85725" y="114300"/>
                  </a:lnTo>
                  <a:lnTo>
                    <a:pt x="114300" y="0"/>
                  </a:lnTo>
                  <a:lnTo>
                    <a:pt x="190500" y="228600"/>
                  </a:lnTo>
                  <a:lnTo>
                    <a:pt x="228600" y="57150"/>
                  </a:lnTo>
                  <a:lnTo>
                    <a:pt x="257175" y="114300"/>
                  </a:lnTo>
                  <a:lnTo>
                    <a:pt x="342900" y="114300"/>
                  </a:lnTo>
                </a:path>
              </a:pathLst>
            </a:custGeom>
            <a:noFill/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TextBox 40"/>
            <p:cNvSpPr/>
            <p:nvPr/>
          </p:nvSpPr>
          <p:spPr>
            <a:xfrm>
              <a:off x="8865000" y="2007720"/>
              <a:ext cx="176868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实时 </a:t>
              </a: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SSE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TextBox 41"/>
            <p:cNvSpPr/>
            <p:nvPr/>
          </p:nvSpPr>
          <p:spPr>
            <a:xfrm>
              <a:off x="8239680" y="2510640"/>
              <a:ext cx="41785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审批和执行状态随对话即时出现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4" name="Group 50"/>
          <p:cNvGrpSpPr/>
          <p:nvPr/>
        </p:nvGrpSpPr>
        <p:grpSpPr>
          <a:xfrm>
            <a:off x="8020080" y="3143160"/>
            <a:ext cx="4100760" cy="1199880"/>
            <a:chOff x="8020080" y="3143160"/>
            <a:chExt cx="4100760" cy="1199880"/>
          </a:xfrm>
        </p:grpSpPr>
        <p:sp>
          <p:nvSpPr>
            <p:cNvPr id="575" name="Rectangle 43"/>
            <p:cNvSpPr/>
            <p:nvPr/>
          </p:nvSpPr>
          <p:spPr>
            <a:xfrm>
              <a:off x="8020080" y="3143160"/>
              <a:ext cx="3638160" cy="1199880"/>
            </a:xfrm>
            <a:prstGeom prst="roundRect">
              <a:avLst>
                <a:gd name="adj" fmla="val 4762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6" name="Group 47"/>
            <p:cNvGrpSpPr/>
            <p:nvPr/>
          </p:nvGrpSpPr>
          <p:grpSpPr>
            <a:xfrm>
              <a:off x="8325000" y="3448080"/>
              <a:ext cx="304560" cy="342360"/>
              <a:chOff x="8325000" y="3448080"/>
              <a:chExt cx="304560" cy="342360"/>
            </a:xfrm>
          </p:grpSpPr>
          <p:sp>
            <p:nvSpPr>
              <p:cNvPr id="577" name="Freeform 44"/>
              <p:cNvSpPr/>
              <p:nvPr/>
            </p:nvSpPr>
            <p:spPr>
              <a:xfrm>
                <a:off x="8325000" y="3448080"/>
                <a:ext cx="304560" cy="11412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14120"/>
                  <a:gd name="textAreaBottom" fmla="*/ 114480 h 114120"/>
                </a:gdLst>
                <a:ahLst/>
                <a:cxnLst/>
                <a:rect l="textAreaLeft" t="textAreaTop" r="textAreaRight" b="textAreaBottom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Freeform 45"/>
              <p:cNvSpPr/>
              <p:nvPr/>
            </p:nvSpPr>
            <p:spPr>
              <a:xfrm>
                <a:off x="8325000" y="3505320"/>
                <a:ext cx="304560" cy="1710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71000"/>
                  <a:gd name="textAreaBottom" fmla="*/ 171360 h 171000"/>
                </a:gdLst>
                <a:ahLst/>
                <a:cxnLst/>
                <a:rect l="textAreaLeft" t="textAreaTop" r="textAreaRight" b="textAreaBottom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Freeform 46"/>
              <p:cNvSpPr/>
              <p:nvPr/>
            </p:nvSpPr>
            <p:spPr>
              <a:xfrm>
                <a:off x="8325000" y="3619440"/>
                <a:ext cx="304560" cy="171000"/>
              </a:xfrm>
              <a:custGeom>
                <a:avLst/>
                <a:gdLst>
                  <a:gd name="textAreaLeft" fmla="*/ 0 w 304560"/>
                  <a:gd name="textAreaRight" fmla="*/ 304920 w 304560"/>
                  <a:gd name="textAreaTop" fmla="*/ 0 h 171000"/>
                  <a:gd name="textAreaBottom" fmla="*/ 171360 h 171000"/>
                </a:gdLst>
                <a:ahLst/>
                <a:cxnLst/>
                <a:rect l="textAreaLeft" t="textAreaTop" r="textAreaRight" b="textAreaBottom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0" name="TextBox 48"/>
            <p:cNvSpPr/>
            <p:nvPr/>
          </p:nvSpPr>
          <p:spPr>
            <a:xfrm>
              <a:off x="8865000" y="3398400"/>
              <a:ext cx="168840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历史恢复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TextBox 49"/>
            <p:cNvSpPr/>
            <p:nvPr/>
          </p:nvSpPr>
          <p:spPr>
            <a:xfrm>
              <a:off x="8239680" y="3901320"/>
              <a:ext cx="38811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刷新页面后，证据随会话重建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2" name="Group 61"/>
          <p:cNvGrpSpPr/>
          <p:nvPr/>
        </p:nvGrpSpPr>
        <p:grpSpPr>
          <a:xfrm>
            <a:off x="8020080" y="4533840"/>
            <a:ext cx="3638160" cy="1395720"/>
            <a:chOff x="8020080" y="4533840"/>
            <a:chExt cx="3638160" cy="1395720"/>
          </a:xfrm>
        </p:grpSpPr>
        <p:sp>
          <p:nvSpPr>
            <p:cNvPr id="583" name="Rectangle 51"/>
            <p:cNvSpPr/>
            <p:nvPr/>
          </p:nvSpPr>
          <p:spPr>
            <a:xfrm>
              <a:off x="8020080" y="4533840"/>
              <a:ext cx="3638160" cy="1390320"/>
            </a:xfrm>
            <a:prstGeom prst="roundRect">
              <a:avLst>
                <a:gd name="adj" fmla="val 4110"/>
              </a:avLst>
            </a:prstGeom>
            <a:solidFill>
              <a:srgbClr val="13223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4" name="Group 57"/>
            <p:cNvGrpSpPr/>
            <p:nvPr/>
          </p:nvGrpSpPr>
          <p:grpSpPr>
            <a:xfrm>
              <a:off x="8344080" y="4838760"/>
              <a:ext cx="266400" cy="342720"/>
              <a:chOff x="8344080" y="4838760"/>
              <a:chExt cx="266400" cy="342720"/>
            </a:xfrm>
          </p:grpSpPr>
          <p:sp>
            <p:nvSpPr>
              <p:cNvPr id="585" name="Freeform 52"/>
              <p:cNvSpPr/>
              <p:nvPr/>
            </p:nvSpPr>
            <p:spPr>
              <a:xfrm>
                <a:off x="8515440" y="4838760"/>
                <a:ext cx="95040" cy="95040"/>
              </a:xfrm>
              <a:custGeom>
                <a:avLst/>
                <a:gdLst>
                  <a:gd name="textAreaLeft" fmla="*/ 0 w 95040"/>
                  <a:gd name="textAreaRight" fmla="*/ 95400 w 95040"/>
                  <a:gd name="textAreaTop" fmla="*/ 0 h 95040"/>
                  <a:gd name="textAreaBottom" fmla="*/ 95400 h 95040"/>
                </a:gdLst>
                <a:ahLst/>
                <a:cxnLst/>
                <a:rect l="textAreaLeft" t="textAreaTop" r="textAreaRight" b="textAreaBottom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eform 53"/>
              <p:cNvSpPr/>
              <p:nvPr/>
            </p:nvSpPr>
            <p:spPr>
              <a:xfrm>
                <a:off x="8344080" y="4838760"/>
                <a:ext cx="266400" cy="342720"/>
              </a:xfrm>
              <a:custGeom>
                <a:avLst/>
                <a:gdLst>
                  <a:gd name="textAreaLeft" fmla="*/ 0 w 266400"/>
                  <a:gd name="textAreaRight" fmla="*/ 266760 w 266400"/>
                  <a:gd name="textAreaTop" fmla="*/ 0 h 342720"/>
                  <a:gd name="textAreaBottom" fmla="*/ 343080 h 342720"/>
                </a:gdLst>
                <a:ahLst/>
                <a:cxnLst/>
                <a:rect l="textAreaLeft" t="textAreaTop" r="textAreaRight" b="textAreaBottom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eform 54"/>
              <p:cNvSpPr/>
              <p:nvPr/>
            </p:nvSpPr>
            <p:spPr>
              <a:xfrm>
                <a:off x="8420040" y="5010120"/>
                <a:ext cx="9000" cy="950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95040"/>
                  <a:gd name="textAreaBottom" fmla="*/ 95400 h 95040"/>
                </a:gdLst>
                <a:ahLst/>
                <a:cxnLst/>
                <a:rect l="textAreaLeft" t="textAreaTop" r="textAreaRight" b="textAreaBottom"/>
                <a:pathLst>
                  <a:path w="9525" h="95250">
                    <a:moveTo>
                      <a:pt x="0" y="952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eform 55"/>
              <p:cNvSpPr/>
              <p:nvPr/>
            </p:nvSpPr>
            <p:spPr>
              <a:xfrm>
                <a:off x="8477280" y="5086440"/>
                <a:ext cx="9000" cy="1872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18720"/>
                  <a:gd name="textAreaBottom" fmla="*/ 19080 h 18720"/>
                </a:gdLst>
                <a:ahLst/>
                <a:cxnLst/>
                <a:rect l="textAreaLeft" t="textAreaTop" r="textAreaRight" b="textAreaBottom"/>
                <a:pathLst>
                  <a:path w="9525" h="19050">
                    <a:moveTo>
                      <a:pt x="0" y="19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5920" bIns="-2592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eform 56"/>
              <p:cNvSpPr/>
              <p:nvPr/>
            </p:nvSpPr>
            <p:spPr>
              <a:xfrm>
                <a:off x="8534520" y="5048280"/>
                <a:ext cx="9000" cy="5688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6880"/>
                  <a:gd name="textAreaBottom" fmla="*/ 57240 h 56880"/>
                </a:gdLst>
                <a:ahLst/>
                <a:cxnLst/>
                <a:rect l="textAreaLeft" t="textAreaTop" r="textAreaRight" b="textAreaBottom"/>
                <a:pathLst>
                  <a:path w="9525" h="57150">
                    <a:moveTo>
                      <a:pt x="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b84d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240" bIns="122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0" name="TextBox 58"/>
            <p:cNvSpPr/>
            <p:nvPr/>
          </p:nvSpPr>
          <p:spPr>
            <a:xfrm>
              <a:off x="8865000" y="4789080"/>
              <a:ext cx="168840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完整结果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TextBox 59"/>
            <p:cNvSpPr/>
            <p:nvPr/>
          </p:nvSpPr>
          <p:spPr>
            <a:xfrm>
              <a:off x="8239680" y="5272920"/>
              <a:ext cx="307476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超过 </a:t>
              </a:r>
              <a:r>
                <a:rPr lang="en-US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20 </a:t>
              </a: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行或 </a:t>
              </a:r>
              <a:r>
                <a:rPr lang="en-US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16 KiB </a:t>
              </a:r>
              <a:r>
                <a:rPr lang="zh-CN" sz="16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仅折叠预览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TextBox 60"/>
            <p:cNvSpPr/>
            <p:nvPr/>
          </p:nvSpPr>
          <p:spPr>
            <a:xfrm>
              <a:off x="8239680" y="5577840"/>
              <a:ext cx="29898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fb84d"/>
                  </a:solidFill>
                  <a:effectLst/>
                  <a:uFillTx/>
                  <a:latin typeface="Arial"/>
                  <a:ea typeface="Microsoft YaHei"/>
                </a:rPr>
                <a:t>原始内容仍可完整复制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3" name="Group 64"/>
          <p:cNvGrpSpPr/>
          <p:nvPr/>
        </p:nvGrpSpPr>
        <p:grpSpPr>
          <a:xfrm>
            <a:off x="526680" y="6274080"/>
            <a:ext cx="11138400" cy="263520"/>
            <a:chOff x="526680" y="6274080"/>
            <a:chExt cx="11138400" cy="263520"/>
          </a:xfrm>
        </p:grpSpPr>
        <p:sp>
          <p:nvSpPr>
            <p:cNvPr id="594" name="TextBox 62"/>
            <p:cNvSpPr/>
            <p:nvPr/>
          </p:nvSpPr>
          <p:spPr>
            <a:xfrm>
              <a:off x="526680" y="6274080"/>
              <a:ext cx="358524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将工具调用转化为可核验、可恢复的评审证据。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TextBox 63"/>
            <p:cNvSpPr/>
            <p:nvPr/>
          </p:nvSpPr>
          <p:spPr>
            <a:xfrm>
              <a:off x="10905120" y="627408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08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roup 4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597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42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9" name="Group 8"/>
          <p:cNvGrpSpPr/>
          <p:nvPr/>
        </p:nvGrpSpPr>
        <p:grpSpPr>
          <a:xfrm>
            <a:off x="514440" y="235440"/>
            <a:ext cx="10628640" cy="1610280"/>
            <a:chOff x="514440" y="235440"/>
            <a:chExt cx="10628640" cy="1610280"/>
          </a:xfrm>
        </p:grpSpPr>
        <p:sp>
          <p:nvSpPr>
            <p:cNvPr id="600" name="TextBox 5"/>
            <p:cNvSpPr/>
            <p:nvPr/>
          </p:nvSpPr>
          <p:spPr>
            <a:xfrm>
              <a:off x="526680" y="235440"/>
              <a:ext cx="5218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QUALITY-813 / TEST PYRAMID / LOCAL BASELINE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TextBox 6"/>
            <p:cNvSpPr/>
            <p:nvPr/>
          </p:nvSpPr>
          <p:spPr>
            <a:xfrm>
              <a:off x="514440" y="531360"/>
              <a:ext cx="879300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813 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个自动化用例全部通过，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TextBox 7"/>
            <p:cNvSpPr/>
            <p:nvPr/>
          </p:nvSpPr>
          <p:spPr>
            <a:xfrm>
              <a:off x="514440" y="1083960"/>
              <a:ext cx="1062864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5fe0c1"/>
                  </a:solidFill>
                  <a:effectLst/>
                  <a:uFillTx/>
                  <a:latin typeface="Segoe UI"/>
                  <a:ea typeface="Microsoft YaHei"/>
                </a:rPr>
                <a:t>两项安全校验 </a:t>
              </a:r>
              <a:r>
                <a:rPr lang="en-US" sz="3900" b="1" u="none" strike="noStrike">
                  <a:solidFill>
                    <a:srgbClr val="5fe0c1"/>
                  </a:solidFill>
                  <a:effectLst/>
                  <a:uFillTx/>
                  <a:latin typeface="Segoe UI"/>
                  <a:ea typeface="Microsoft YaHei"/>
                </a:rPr>
                <a:t>P95 </a:t>
              </a:r>
              <a:r>
                <a:rPr lang="zh-CN" sz="3900" b="1" u="none" strike="noStrike">
                  <a:solidFill>
                    <a:srgbClr val="5fe0c1"/>
                  </a:solidFill>
                  <a:effectLst/>
                  <a:uFillTx/>
                  <a:latin typeface="Segoe UI"/>
                  <a:ea typeface="Microsoft YaHei"/>
                </a:rPr>
                <a:t>均低于 </a:t>
              </a:r>
              <a:r>
                <a:rPr lang="en-US" sz="3900" b="1" u="none" strike="noStrike">
                  <a:solidFill>
                    <a:srgbClr val="5fe0c1"/>
                  </a:solidFill>
                  <a:effectLst/>
                  <a:uFillTx/>
                  <a:latin typeface="Segoe UI"/>
                  <a:ea typeface="Microsoft YaHei"/>
                </a:rPr>
                <a:t>0.05 ms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3" name="Group 16"/>
          <p:cNvGrpSpPr/>
          <p:nvPr/>
        </p:nvGrpSpPr>
        <p:grpSpPr>
          <a:xfrm>
            <a:off x="533520" y="1790640"/>
            <a:ext cx="3885840" cy="2990520"/>
            <a:chOff x="533520" y="1790640"/>
            <a:chExt cx="3885840" cy="2990520"/>
          </a:xfrm>
        </p:grpSpPr>
        <p:sp>
          <p:nvSpPr>
            <p:cNvPr id="604" name="Rectangle 9"/>
            <p:cNvSpPr/>
            <p:nvPr/>
          </p:nvSpPr>
          <p:spPr>
            <a:xfrm>
              <a:off x="533520" y="1790640"/>
              <a:ext cx="3885840" cy="2990520"/>
            </a:xfrm>
            <a:prstGeom prst="roundRect">
              <a:avLst>
                <a:gd name="adj" fmla="val 1911"/>
              </a:avLst>
            </a:prstGeom>
            <a:solidFill>
              <a:srgbClr val="132238"/>
            </a:solidFill>
            <a:ln w="28575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eform 10"/>
            <p:cNvSpPr/>
            <p:nvPr/>
          </p:nvSpPr>
          <p:spPr>
            <a:xfrm>
              <a:off x="843120" y="2162160"/>
              <a:ext cx="371160" cy="24732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247320"/>
                <a:gd name="textAreaBottom" fmla="*/ 247680 h 247320"/>
              </a:gdLst>
              <a:ahLst/>
              <a:cxnLst/>
              <a:rect l="textAreaLeft" t="textAreaTop" r="textAreaRight" b="textAreaBottom"/>
              <a:pathLst>
                <a:path w="371476" h="247650">
                  <a:moveTo>
                    <a:pt x="0" y="123825"/>
                  </a:moveTo>
                  <a:lnTo>
                    <a:pt x="92869" y="123825"/>
                  </a:lnTo>
                  <a:lnTo>
                    <a:pt x="123825" y="0"/>
                  </a:lnTo>
                  <a:lnTo>
                    <a:pt x="206375" y="247650"/>
                  </a:lnTo>
                  <a:lnTo>
                    <a:pt x="247650" y="61913"/>
                  </a:lnTo>
                  <a:lnTo>
                    <a:pt x="278607" y="123825"/>
                  </a:lnTo>
                  <a:lnTo>
                    <a:pt x="371476" y="123825"/>
                  </a:lnTo>
                </a:path>
              </a:pathLst>
            </a:custGeom>
            <a:noFill/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TextBox 11"/>
            <p:cNvSpPr/>
            <p:nvPr/>
          </p:nvSpPr>
          <p:spPr>
            <a:xfrm>
              <a:off x="1416600" y="2122200"/>
              <a:ext cx="210420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自动化测试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TextBox 12"/>
            <p:cNvSpPr/>
            <p:nvPr/>
          </p:nvSpPr>
          <p:spPr>
            <a:xfrm>
              <a:off x="1770840" y="3063240"/>
              <a:ext cx="141084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4800" b="1" u="none" strike="noStrike">
                  <a:solidFill>
                    <a:srgbClr val="5fe0c1"/>
                  </a:solidFill>
                  <a:effectLst/>
                  <a:uFillTx/>
                  <a:latin typeface="Segoe UI"/>
                  <a:ea typeface="Segoe UI"/>
                </a:rPr>
                <a:t>813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TextBox 13"/>
            <p:cNvSpPr/>
            <p:nvPr/>
          </p:nvSpPr>
          <p:spPr>
            <a:xfrm>
              <a:off x="1735560" y="3760560"/>
              <a:ext cx="148140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PASSED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Freeform 14"/>
            <p:cNvSpPr/>
            <p:nvPr/>
          </p:nvSpPr>
          <p:spPr>
            <a:xfrm>
              <a:off x="781200" y="4267080"/>
              <a:ext cx="3390480" cy="9000"/>
            </a:xfrm>
            <a:custGeom>
              <a:avLst/>
              <a:gdLst>
                <a:gd name="textAreaLeft" fmla="*/ 0 w 3390480"/>
                <a:gd name="textAreaRight" fmla="*/ 3390840 w 33904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5640" bIns="-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TextBox 15"/>
            <p:cNvSpPr/>
            <p:nvPr/>
          </p:nvSpPr>
          <p:spPr>
            <a:xfrm>
              <a:off x="1620360" y="4396680"/>
              <a:ext cx="17118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通过率 </a:t>
              </a: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100%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1" name="Group 21"/>
          <p:cNvGrpSpPr/>
          <p:nvPr/>
        </p:nvGrpSpPr>
        <p:grpSpPr>
          <a:xfrm>
            <a:off x="4705200" y="1790640"/>
            <a:ext cx="3590640" cy="1481760"/>
            <a:chOff x="4705200" y="1790640"/>
            <a:chExt cx="3590640" cy="1481760"/>
          </a:xfrm>
        </p:grpSpPr>
        <p:sp>
          <p:nvSpPr>
            <p:cNvPr id="612" name="Rectangle 17"/>
            <p:cNvSpPr/>
            <p:nvPr/>
          </p:nvSpPr>
          <p:spPr>
            <a:xfrm>
              <a:off x="4705200" y="1790640"/>
              <a:ext cx="3238200" cy="1352160"/>
            </a:xfrm>
            <a:prstGeom prst="roundRect">
              <a:avLst>
                <a:gd name="adj" fmla="val 4225"/>
              </a:avLst>
            </a:prstGeom>
            <a:solidFill>
              <a:srgbClr val="13223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TextBox 18"/>
            <p:cNvSpPr/>
            <p:nvPr/>
          </p:nvSpPr>
          <p:spPr>
            <a:xfrm>
              <a:off x="4943880" y="1948680"/>
              <a:ext cx="18162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WEB-SERVER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TextBox 19"/>
            <p:cNvSpPr/>
            <p:nvPr/>
          </p:nvSpPr>
          <p:spPr>
            <a:xfrm>
              <a:off x="4933800" y="2339280"/>
              <a:ext cx="141084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48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Segoe UI"/>
                </a:rPr>
                <a:t>394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TextBox 20"/>
            <p:cNvSpPr/>
            <p:nvPr/>
          </p:nvSpPr>
          <p:spPr>
            <a:xfrm>
              <a:off x="6658200" y="2529720"/>
              <a:ext cx="16376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Arial"/>
                </a:rPr>
                <a:t>87% branch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16" name="Group 26"/>
          <p:cNvGrpSpPr/>
          <p:nvPr/>
        </p:nvGrpSpPr>
        <p:grpSpPr>
          <a:xfrm>
            <a:off x="8134200" y="1790640"/>
            <a:ext cx="3609720" cy="1481760"/>
            <a:chOff x="8134200" y="1790640"/>
            <a:chExt cx="3609720" cy="1481760"/>
          </a:xfrm>
        </p:grpSpPr>
        <p:sp>
          <p:nvSpPr>
            <p:cNvPr id="617" name="Rectangle 22"/>
            <p:cNvSpPr/>
            <p:nvPr/>
          </p:nvSpPr>
          <p:spPr>
            <a:xfrm>
              <a:off x="8134200" y="1790640"/>
              <a:ext cx="3524040" cy="1352160"/>
            </a:xfrm>
            <a:prstGeom prst="roundRect">
              <a:avLst>
                <a:gd name="adj" fmla="val 4225"/>
              </a:avLst>
            </a:prstGeom>
            <a:solidFill>
              <a:srgbClr val="13223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8" name="TextBox 23"/>
            <p:cNvSpPr/>
            <p:nvPr/>
          </p:nvSpPr>
          <p:spPr>
            <a:xfrm>
              <a:off x="8372880" y="1948680"/>
              <a:ext cx="20527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TOOL-SERVER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9" name="TextBox 24"/>
            <p:cNvSpPr/>
            <p:nvPr/>
          </p:nvSpPr>
          <p:spPr>
            <a:xfrm>
              <a:off x="8362800" y="2339280"/>
              <a:ext cx="141084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48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Segoe UI"/>
                </a:rPr>
                <a:t>217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0" name="TextBox 25"/>
            <p:cNvSpPr/>
            <p:nvPr/>
          </p:nvSpPr>
          <p:spPr>
            <a:xfrm>
              <a:off x="10106280" y="2529720"/>
              <a:ext cx="16376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Arial"/>
                </a:rPr>
                <a:t>84% branch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1" name="Group 31"/>
          <p:cNvGrpSpPr/>
          <p:nvPr/>
        </p:nvGrpSpPr>
        <p:grpSpPr>
          <a:xfrm>
            <a:off x="4705200" y="3333600"/>
            <a:ext cx="3813480" cy="1500840"/>
            <a:chOff x="4705200" y="3333600"/>
            <a:chExt cx="3813480" cy="1500840"/>
          </a:xfrm>
        </p:grpSpPr>
        <p:sp>
          <p:nvSpPr>
            <p:cNvPr id="622" name="Rectangle 27"/>
            <p:cNvSpPr/>
            <p:nvPr/>
          </p:nvSpPr>
          <p:spPr>
            <a:xfrm>
              <a:off x="4705200" y="3333600"/>
              <a:ext cx="3238200" cy="1447560"/>
            </a:xfrm>
            <a:prstGeom prst="roundRect">
              <a:avLst>
                <a:gd name="adj" fmla="val 3947"/>
              </a:avLst>
            </a:prstGeom>
            <a:solidFill>
              <a:srgbClr val="13223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TextBox 28"/>
            <p:cNvSpPr/>
            <p:nvPr/>
          </p:nvSpPr>
          <p:spPr>
            <a:xfrm>
              <a:off x="4943880" y="3501360"/>
              <a:ext cx="14691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FRONTEND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TextBox 29"/>
            <p:cNvSpPr/>
            <p:nvPr/>
          </p:nvSpPr>
          <p:spPr>
            <a:xfrm>
              <a:off x="4933800" y="3901320"/>
              <a:ext cx="141084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48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Segoe UI"/>
                </a:rPr>
                <a:t>186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5" name="TextBox 30"/>
            <p:cNvSpPr/>
            <p:nvPr/>
          </p:nvSpPr>
          <p:spPr>
            <a:xfrm>
              <a:off x="6658200" y="4149000"/>
              <a:ext cx="18604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Arial"/>
                </a:rPr>
                <a:t>91.75% stmt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6" name="Group 36"/>
          <p:cNvGrpSpPr/>
          <p:nvPr/>
        </p:nvGrpSpPr>
        <p:grpSpPr>
          <a:xfrm>
            <a:off x="8134200" y="3333600"/>
            <a:ext cx="3524040" cy="1500840"/>
            <a:chOff x="8134200" y="3333600"/>
            <a:chExt cx="3524040" cy="1500840"/>
          </a:xfrm>
        </p:grpSpPr>
        <p:sp>
          <p:nvSpPr>
            <p:cNvPr id="627" name="Rectangle 32"/>
            <p:cNvSpPr/>
            <p:nvPr/>
          </p:nvSpPr>
          <p:spPr>
            <a:xfrm>
              <a:off x="8134200" y="3333600"/>
              <a:ext cx="3524040" cy="1447560"/>
            </a:xfrm>
            <a:prstGeom prst="roundRect">
              <a:avLst>
                <a:gd name="adj" fmla="val 3947"/>
              </a:avLst>
            </a:prstGeom>
            <a:solidFill>
              <a:srgbClr val="13223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8" name="TextBox 33"/>
            <p:cNvSpPr/>
            <p:nvPr/>
          </p:nvSpPr>
          <p:spPr>
            <a:xfrm>
              <a:off x="8372880" y="3501360"/>
              <a:ext cx="1453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MOCK E2E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9" name="TextBox 34"/>
            <p:cNvSpPr/>
            <p:nvPr/>
          </p:nvSpPr>
          <p:spPr>
            <a:xfrm>
              <a:off x="8362800" y="3901320"/>
              <a:ext cx="952920" cy="93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48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Segoe UI"/>
                </a:rPr>
                <a:t>16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0" name="TextBox 35"/>
            <p:cNvSpPr/>
            <p:nvPr/>
          </p:nvSpPr>
          <p:spPr>
            <a:xfrm>
              <a:off x="9611280" y="4149000"/>
              <a:ext cx="180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浏览器主路径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1" name="Group 40"/>
          <p:cNvGrpSpPr/>
          <p:nvPr/>
        </p:nvGrpSpPr>
        <p:grpSpPr>
          <a:xfrm>
            <a:off x="533520" y="5067360"/>
            <a:ext cx="5371920" cy="967320"/>
            <a:chOff x="533520" y="5067360"/>
            <a:chExt cx="5371920" cy="967320"/>
          </a:xfrm>
        </p:grpSpPr>
        <p:sp>
          <p:nvSpPr>
            <p:cNvPr id="632" name="Rectangle 37"/>
            <p:cNvSpPr/>
            <p:nvPr/>
          </p:nvSpPr>
          <p:spPr>
            <a:xfrm>
              <a:off x="533520" y="5067360"/>
              <a:ext cx="5371920" cy="933120"/>
            </a:xfrm>
            <a:prstGeom prst="roundRect">
              <a:avLst>
                <a:gd name="adj" fmla="val 6122"/>
              </a:avLst>
            </a:prstGeom>
            <a:solidFill>
              <a:srgbClr val="18253a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TextBox 38"/>
            <p:cNvSpPr/>
            <p:nvPr/>
          </p:nvSpPr>
          <p:spPr>
            <a:xfrm>
              <a:off x="771840" y="5216040"/>
              <a:ext cx="3020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Consolas"/>
                  <a:ea typeface="Consolas"/>
                </a:rPr>
                <a:t>InputSafetyGate P95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TextBox 39"/>
            <p:cNvSpPr/>
            <p:nvPr/>
          </p:nvSpPr>
          <p:spPr>
            <a:xfrm>
              <a:off x="3094200" y="5448240"/>
              <a:ext cx="2578320" cy="58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3000" b="1" u="none" strike="noStrike">
                  <a:solidFill>
                    <a:srgbClr val="7cb7ff"/>
                  </a:solidFill>
                  <a:effectLst/>
                  <a:uFillTx/>
                  <a:latin typeface="Consolas"/>
                  <a:ea typeface="Consolas"/>
                </a:rPr>
                <a:t>0.0056 ms</a:t>
              </a:r>
              <a:endPara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5" name="Group 44"/>
          <p:cNvGrpSpPr/>
          <p:nvPr/>
        </p:nvGrpSpPr>
        <p:grpSpPr>
          <a:xfrm>
            <a:off x="6286680" y="5067360"/>
            <a:ext cx="5371920" cy="967320"/>
            <a:chOff x="6286680" y="5067360"/>
            <a:chExt cx="5371920" cy="967320"/>
          </a:xfrm>
        </p:grpSpPr>
        <p:sp>
          <p:nvSpPr>
            <p:cNvPr id="636" name="Rectangle 41"/>
            <p:cNvSpPr/>
            <p:nvPr/>
          </p:nvSpPr>
          <p:spPr>
            <a:xfrm>
              <a:off x="6286680" y="5067360"/>
              <a:ext cx="5371920" cy="933120"/>
            </a:xfrm>
            <a:prstGeom prst="roundRect">
              <a:avLst>
                <a:gd name="adj" fmla="val 6122"/>
              </a:avLst>
            </a:prstGeom>
            <a:solidFill>
              <a:srgbClr val="18253a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TextBox 42"/>
            <p:cNvSpPr/>
            <p:nvPr/>
          </p:nvSpPr>
          <p:spPr>
            <a:xfrm>
              <a:off x="6525000" y="5216040"/>
              <a:ext cx="27745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b9c6d8"/>
                  </a:solidFill>
                  <a:effectLst/>
                  <a:uFillTx/>
                  <a:latin typeface="Consolas"/>
                  <a:ea typeface="Consolas"/>
                </a:rPr>
                <a:t>Bash classifier P95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8" name="TextBox 43"/>
            <p:cNvSpPr/>
            <p:nvPr/>
          </p:nvSpPr>
          <p:spPr>
            <a:xfrm>
              <a:off x="8847360" y="5448240"/>
              <a:ext cx="2578320" cy="586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3000" b="1" u="none" strike="noStrike">
                  <a:solidFill>
                    <a:srgbClr val="ffb84d"/>
                  </a:solidFill>
                  <a:effectLst/>
                  <a:uFillTx/>
                  <a:latin typeface="Consolas"/>
                  <a:ea typeface="Consolas"/>
                </a:rPr>
                <a:t>0.0412 ms</a:t>
              </a:r>
              <a:endPara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9" name="Group 47"/>
          <p:cNvGrpSpPr/>
          <p:nvPr/>
        </p:nvGrpSpPr>
        <p:grpSpPr>
          <a:xfrm>
            <a:off x="526680" y="6274080"/>
            <a:ext cx="11138400" cy="263520"/>
            <a:chOff x="526680" y="6274080"/>
            <a:chExt cx="11138400" cy="263520"/>
          </a:xfrm>
        </p:grpSpPr>
        <p:sp>
          <p:nvSpPr>
            <p:cNvPr id="640" name="TextBox 45"/>
            <p:cNvSpPr/>
            <p:nvPr/>
          </p:nvSpPr>
          <p:spPr>
            <a:xfrm>
              <a:off x="526680" y="6274080"/>
              <a:ext cx="2984760" cy="20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不含 </a:t>
              </a: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LLM/MCP </a:t>
              </a:r>
              <a:r>
                <a:rPr lang="zh-CN" sz="1350" b="0" u="none" strike="noStrike">
                  <a:solidFill>
                    <a:srgbClr val="7f91aa"/>
                  </a:solidFill>
                  <a:effectLst/>
                  <a:uFillTx/>
                  <a:latin typeface="Arial"/>
                  <a:ea typeface="Microsoft YaHei"/>
                </a:rPr>
                <a:t>网络与工具执行耗时。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1" name="TextBox 46"/>
            <p:cNvSpPr/>
            <p:nvPr/>
          </p:nvSpPr>
          <p:spPr>
            <a:xfrm>
              <a:off x="10905120" y="627408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09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Group 5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643" name="Rectangle 2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solidFill>
              <a:srgbClr val="1018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eform 3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cxnLst/>
              <a:rect l="textAreaLeft" t="textAreaTop" r="textAreaRight" b="textAreaBottom"/>
              <a:pathLst>
                <a:path w="12192000" h="6858000">
                  <a:moveTo>
                    <a:pt x="0" y="762000"/>
                  </a:moveTo>
                  <a:lnTo>
                    <a:pt x="12192000" y="762000"/>
                  </a:lnTo>
                  <a:moveTo>
                    <a:pt x="0" y="1524000"/>
                  </a:moveTo>
                  <a:lnTo>
                    <a:pt x="12192000" y="1524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048000"/>
                  </a:moveTo>
                  <a:lnTo>
                    <a:pt x="12192000" y="3048000"/>
                  </a:lnTo>
                  <a:moveTo>
                    <a:pt x="0" y="3810000"/>
                  </a:moveTo>
                  <a:lnTo>
                    <a:pt x="12192000" y="3810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334000"/>
                  </a:moveTo>
                  <a:lnTo>
                    <a:pt x="12192000" y="5334000"/>
                  </a:lnTo>
                  <a:moveTo>
                    <a:pt x="0" y="6096000"/>
                  </a:moveTo>
                  <a:lnTo>
                    <a:pt x="12192000" y="6096000"/>
                  </a:lnTo>
                  <a:moveTo>
                    <a:pt x="762000" y="0"/>
                  </a:moveTo>
                  <a:lnTo>
                    <a:pt x="762000" y="6858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0668000" y="0"/>
                  </a:moveTo>
                  <a:lnTo>
                    <a:pt x="10668000" y="6858000"/>
                  </a:lnTo>
                  <a:moveTo>
                    <a:pt x="11430000" y="0"/>
                  </a:moveTo>
                  <a:lnTo>
                    <a:pt x="11430000" y="6858000"/>
                  </a:lnTo>
                </a:path>
              </a:pathLst>
            </a:custGeom>
            <a:noFill/>
            <a:ln w="9525">
              <a:solidFill>
                <a:srgbClr val="233c59">
                  <a:alpha val="50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Freeform 4"/>
            <p:cNvSpPr/>
            <p:nvPr/>
          </p:nvSpPr>
          <p:spPr>
            <a:xfrm>
              <a:off x="380880" y="380880"/>
              <a:ext cx="11429640" cy="6095520"/>
            </a:xfrm>
            <a:custGeom>
              <a:avLst/>
              <a:gdLst>
                <a:gd name="textAreaLeft" fmla="*/ 0 w 11429640"/>
                <a:gd name="textAreaRight" fmla="*/ 11430000 w 11429640"/>
                <a:gd name="textAreaTop" fmla="*/ 0 h 6095520"/>
                <a:gd name="textAreaBottom" fmla="*/ 6095880 h 6095520"/>
              </a:gdLst>
              <a:ahLst/>
              <a:cxnLst/>
              <a:rect l="textAreaLeft" t="textAreaTop" r="textAreaRight" b="textAreaBottom"/>
              <a:pathLst>
                <a:path w="11430000" h="6096000">
                  <a:moveTo>
                    <a:pt x="0" y="0"/>
                  </a:moveTo>
                  <a:lnTo>
                    <a:pt x="1047750" y="0"/>
                  </a:lnTo>
                  <a:moveTo>
                    <a:pt x="0" y="0"/>
                  </a:moveTo>
                  <a:lnTo>
                    <a:pt x="0" y="495300"/>
                  </a:lnTo>
                  <a:moveTo>
                    <a:pt x="11430000" y="0"/>
                  </a:moveTo>
                  <a:lnTo>
                    <a:pt x="10382250" y="0"/>
                  </a:lnTo>
                  <a:moveTo>
                    <a:pt x="11430000" y="0"/>
                  </a:moveTo>
                  <a:lnTo>
                    <a:pt x="11430000" y="495300"/>
                  </a:lnTo>
                  <a:moveTo>
                    <a:pt x="0" y="6096000"/>
                  </a:moveTo>
                  <a:lnTo>
                    <a:pt x="1047750" y="6096000"/>
                  </a:lnTo>
                  <a:moveTo>
                    <a:pt x="0" y="6096000"/>
                  </a:moveTo>
                  <a:lnTo>
                    <a:pt x="0" y="5600700"/>
                  </a:lnTo>
                  <a:moveTo>
                    <a:pt x="11430000" y="6096000"/>
                  </a:moveTo>
                  <a:lnTo>
                    <a:pt x="10382250" y="6096000"/>
                  </a:lnTo>
                  <a:moveTo>
                    <a:pt x="11430000" y="6096000"/>
                  </a:moveTo>
                  <a:lnTo>
                    <a:pt x="11430000" y="5600700"/>
                  </a:lnTo>
                </a:path>
              </a:pathLst>
            </a:custGeom>
            <a:noFill/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6" name="Group 9"/>
          <p:cNvGrpSpPr/>
          <p:nvPr/>
        </p:nvGrpSpPr>
        <p:grpSpPr>
          <a:xfrm>
            <a:off x="330120" y="311400"/>
            <a:ext cx="11531160" cy="1877040"/>
            <a:chOff x="330120" y="311400"/>
            <a:chExt cx="11531160" cy="1877040"/>
          </a:xfrm>
        </p:grpSpPr>
        <p:sp>
          <p:nvSpPr>
            <p:cNvPr id="647" name="TextBox 6"/>
            <p:cNvSpPr/>
            <p:nvPr/>
          </p:nvSpPr>
          <p:spPr>
            <a:xfrm>
              <a:off x="526680" y="311400"/>
              <a:ext cx="42721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CONCLUSION / SAFE OPERATIONS AGENT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8" name="TextBox 7"/>
            <p:cNvSpPr/>
            <p:nvPr/>
          </p:nvSpPr>
          <p:spPr>
            <a:xfrm>
              <a:off x="2000880" y="759960"/>
              <a:ext cx="819036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Alascup Agent 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让 </a:t>
              </a:r>
              <a:r>
                <a:rPr lang="en-US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OS </a:t>
              </a:r>
              <a:r>
                <a:rPr lang="zh-CN" sz="3900" b="1" u="none" strike="noStrike">
                  <a:solidFill>
                    <a:srgbClr val="f5f7fa"/>
                  </a:solidFill>
                  <a:effectLst/>
                  <a:uFillTx/>
                  <a:latin typeface="Segoe UI"/>
                  <a:ea typeface="Microsoft YaHei"/>
                </a:rPr>
                <a:t>运维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9" name="TextBox 8"/>
            <p:cNvSpPr/>
            <p:nvPr/>
          </p:nvSpPr>
          <p:spPr>
            <a:xfrm>
              <a:off x="330120" y="1426680"/>
              <a:ext cx="1153116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3900" b="1" u="none" strike="noStrike">
                  <a:solidFill>
                    <a:srgbClr val="7cb7ff"/>
                  </a:solidFill>
                  <a:effectLst/>
                  <a:uFillTx/>
                  <a:latin typeface="Segoe UI"/>
                  <a:ea typeface="Microsoft YaHei"/>
                </a:rPr>
                <a:t>可用、可控、可信，并可扩展到云平台</a:t>
              </a:r>
              <a:endParaRPr lang="en-US" sz="3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0" name="Group 40"/>
          <p:cNvGrpSpPr/>
          <p:nvPr/>
        </p:nvGrpSpPr>
        <p:grpSpPr>
          <a:xfrm>
            <a:off x="533520" y="3153960"/>
            <a:ext cx="11124720" cy="1980720"/>
            <a:chOff x="533520" y="3153960"/>
            <a:chExt cx="11124720" cy="1980720"/>
          </a:xfrm>
        </p:grpSpPr>
        <p:sp>
          <p:nvSpPr>
            <p:cNvPr id="651" name="Line 10"/>
            <p:cNvSpPr/>
            <p:nvPr/>
          </p:nvSpPr>
          <p:spPr>
            <a:xfrm>
              <a:off x="2095200" y="4144320"/>
              <a:ext cx="7944120" cy="0"/>
            </a:xfrm>
            <a:prstGeom prst="line">
              <a:avLst/>
            </a:prstGeom>
            <a:ln w="38100">
              <a:solidFill>
                <a:srgbClr val="7cb7ff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t" anchorCtr="1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Ellipse 11"/>
            <p:cNvSpPr/>
            <p:nvPr/>
          </p:nvSpPr>
          <p:spPr>
            <a:xfrm>
              <a:off x="5105520" y="3153960"/>
              <a:ext cx="1980720" cy="1980720"/>
            </a:xfrm>
            <a:prstGeom prst="ellipse">
              <a:avLst/>
            </a:prstGeom>
            <a:solidFill>
              <a:srgbClr val="18253a"/>
            </a:solidFill>
            <a:ln w="28575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3" name="Group 14"/>
            <p:cNvGrpSpPr/>
            <p:nvPr/>
          </p:nvGrpSpPr>
          <p:grpSpPr>
            <a:xfrm>
              <a:off x="5767560" y="3477960"/>
              <a:ext cx="619560" cy="571320"/>
              <a:chOff x="5767560" y="3477960"/>
              <a:chExt cx="619560" cy="571320"/>
            </a:xfrm>
          </p:grpSpPr>
          <p:sp>
            <p:nvSpPr>
              <p:cNvPr id="654" name="Freeform 12"/>
              <p:cNvSpPr/>
              <p:nvPr/>
            </p:nvSpPr>
            <p:spPr>
              <a:xfrm>
                <a:off x="5767560" y="3477960"/>
                <a:ext cx="619560" cy="566280"/>
              </a:xfrm>
              <a:custGeom>
                <a:avLst/>
                <a:gdLst>
                  <a:gd name="textAreaLeft" fmla="*/ 0 w 619560"/>
                  <a:gd name="textAreaRight" fmla="*/ 619920 w 619560"/>
                  <a:gd name="textAreaTop" fmla="*/ 0 h 566280"/>
                  <a:gd name="textAreaBottom" fmla="*/ 566640 h 566280"/>
                </a:gdLst>
                <a:ahLst/>
                <a:cxnLst/>
                <a:rect l="textAreaLeft" t="textAreaTop" r="textAreaRight" b="textAreaBottom"/>
                <a:pathLst>
                  <a:path w="620021" h="566610">
                    <a:moveTo>
                      <a:pt x="311453" y="566610"/>
                    </a:moveTo>
                    <a:cubicBezTo>
                      <a:pt x="112554" y="504955"/>
                      <a:pt x="0" y="295034"/>
                      <a:pt x="58723" y="95250"/>
                    </a:cubicBezTo>
                    <a:cubicBezTo>
                      <a:pt x="157641" y="99776"/>
                      <a:pt x="254435" y="65614"/>
                      <a:pt x="328598" y="0"/>
                    </a:cubicBezTo>
                    <a:cubicBezTo>
                      <a:pt x="402761" y="65614"/>
                      <a:pt x="499555" y="99776"/>
                      <a:pt x="598473" y="95250"/>
                    </a:cubicBezTo>
                    <a:cubicBezTo>
                      <a:pt x="620021" y="168564"/>
                      <a:pt x="619025" y="246664"/>
                      <a:pt x="595615" y="319405"/>
                    </a:cubicBez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Freeform 13"/>
              <p:cNvSpPr/>
              <p:nvPr/>
            </p:nvSpPr>
            <p:spPr>
              <a:xfrm>
                <a:off x="6191280" y="3922560"/>
                <a:ext cx="190080" cy="126720"/>
              </a:xfrm>
              <a:custGeom>
                <a:avLst/>
                <a:gdLst>
                  <a:gd name="textAreaLeft" fmla="*/ 0 w 190080"/>
                  <a:gd name="textAreaRight" fmla="*/ 190440 w 190080"/>
                  <a:gd name="textAreaTop" fmla="*/ 0 h 126720"/>
                  <a:gd name="textAreaBottom" fmla="*/ 127080 h 126720"/>
                </a:gdLst>
                <a:ahLst/>
                <a:cxnLst/>
                <a:rect l="textAreaLeft" t="textAreaTop" r="textAreaRight" b="textAreaBottom"/>
                <a:pathLst>
                  <a:path w="190500" h="127000">
                    <a:moveTo>
                      <a:pt x="0" y="63500"/>
                    </a:moveTo>
                    <a:lnTo>
                      <a:pt x="63500" y="127000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6" name="TextBox 15"/>
            <p:cNvSpPr/>
            <p:nvPr/>
          </p:nvSpPr>
          <p:spPr>
            <a:xfrm>
              <a:off x="4944240" y="4331520"/>
              <a:ext cx="23036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ALASCUP AGENT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7" name="TextBox 16"/>
            <p:cNvSpPr/>
            <p:nvPr/>
          </p:nvSpPr>
          <p:spPr>
            <a:xfrm>
              <a:off x="5195160" y="4636080"/>
              <a:ext cx="1801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统一安全链路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Rectangle 17"/>
            <p:cNvSpPr/>
            <p:nvPr/>
          </p:nvSpPr>
          <p:spPr>
            <a:xfrm>
              <a:off x="533520" y="3497040"/>
              <a:ext cx="1866600" cy="1294920"/>
            </a:xfrm>
            <a:prstGeom prst="roundRect">
              <a:avLst>
                <a:gd name="adj" fmla="val 4412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9" name="Group 28"/>
            <p:cNvGrpSpPr/>
            <p:nvPr/>
          </p:nvGrpSpPr>
          <p:grpSpPr>
            <a:xfrm>
              <a:off x="1224000" y="3749400"/>
              <a:ext cx="485280" cy="485280"/>
              <a:chOff x="1224000" y="3749400"/>
              <a:chExt cx="485280" cy="485280"/>
            </a:xfrm>
          </p:grpSpPr>
          <p:sp>
            <p:nvSpPr>
              <p:cNvPr id="660" name="Freeform 18"/>
              <p:cNvSpPr/>
              <p:nvPr/>
            </p:nvSpPr>
            <p:spPr>
              <a:xfrm>
                <a:off x="1278000" y="3803400"/>
                <a:ext cx="377640" cy="377640"/>
              </a:xfrm>
              <a:custGeom>
                <a:avLst/>
                <a:gdLst>
                  <a:gd name="textAreaLeft" fmla="*/ 0 w 377640"/>
                  <a:gd name="textAreaRight" fmla="*/ 378000 w 377640"/>
                  <a:gd name="textAreaTop" fmla="*/ 0 h 377640"/>
                  <a:gd name="textAreaBottom" fmla="*/ 378000 h 377640"/>
                </a:gdLst>
                <a:ahLst/>
                <a:cxnLst/>
                <a:rect l="textAreaLeft" t="textAreaTop" r="textAreaRight" b="textAreaBottom"/>
                <a:pathLst>
                  <a:path w="377825" h="377825">
                    <a:moveTo>
                      <a:pt x="0" y="26987"/>
                    </a:moveTo>
                    <a:cubicBezTo>
                      <a:pt x="0" y="12083"/>
                      <a:pt x="12083" y="0"/>
                      <a:pt x="26987" y="0"/>
                    </a:cubicBezTo>
                    <a:lnTo>
                      <a:pt x="350837" y="0"/>
                    </a:lnTo>
                    <a:cubicBezTo>
                      <a:pt x="365742" y="0"/>
                      <a:pt x="377825" y="12083"/>
                      <a:pt x="377825" y="26987"/>
                    </a:cubicBezTo>
                    <a:lnTo>
                      <a:pt x="377825" y="350837"/>
                    </a:lnTo>
                    <a:cubicBezTo>
                      <a:pt x="377825" y="365742"/>
                      <a:pt x="365742" y="377825"/>
                      <a:pt x="350837" y="377825"/>
                    </a:cubicBezTo>
                    <a:lnTo>
                      <a:pt x="26987" y="377825"/>
                    </a:lnTo>
                    <a:cubicBezTo>
                      <a:pt x="12083" y="377825"/>
                      <a:pt x="0" y="365742"/>
                      <a:pt x="0" y="350837"/>
                    </a:cubicBez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eform 19"/>
              <p:cNvSpPr/>
              <p:nvPr/>
            </p:nvSpPr>
            <p:spPr>
              <a:xfrm>
                <a:off x="1386000" y="3911400"/>
                <a:ext cx="161640" cy="16164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161640"/>
                  <a:gd name="textAreaBottom" fmla="*/ 162000 h 161640"/>
                </a:gdLst>
                <a:ahLst/>
                <a:cxnLst/>
                <a:rect l="textAreaLeft" t="textAreaTop" r="textAreaRight" b="textAreaBottom"/>
                <a:pathLst>
                  <a:path w="161925" h="161925">
                    <a:moveTo>
                      <a:pt x="0" y="0"/>
                    </a:moveTo>
                    <a:lnTo>
                      <a:pt x="161925" y="0"/>
                    </a:lnTo>
                    <a:lnTo>
                      <a:pt x="161925" y="161925"/>
                    </a:lnTo>
                    <a:lnTo>
                      <a:pt x="0" y="161925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2" name="Freeform 20"/>
              <p:cNvSpPr/>
              <p:nvPr/>
            </p:nvSpPr>
            <p:spPr>
              <a:xfrm>
                <a:off x="1224000" y="3938400"/>
                <a:ext cx="53640" cy="9000"/>
              </a:xfrm>
              <a:custGeom>
                <a:avLst/>
                <a:gdLst>
                  <a:gd name="textAreaLeft" fmla="*/ 0 w 53640"/>
                  <a:gd name="textAreaRight" fmla="*/ 54000 w 53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3" name="Freeform 21"/>
              <p:cNvSpPr/>
              <p:nvPr/>
            </p:nvSpPr>
            <p:spPr>
              <a:xfrm>
                <a:off x="1224000" y="4046400"/>
                <a:ext cx="53640" cy="9000"/>
              </a:xfrm>
              <a:custGeom>
                <a:avLst/>
                <a:gdLst>
                  <a:gd name="textAreaLeft" fmla="*/ 0 w 53640"/>
                  <a:gd name="textAreaRight" fmla="*/ 54000 w 53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Freeform 22"/>
              <p:cNvSpPr/>
              <p:nvPr/>
            </p:nvSpPr>
            <p:spPr>
              <a:xfrm>
                <a:off x="1413000" y="3749400"/>
                <a:ext cx="9000" cy="536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Freeform 23"/>
              <p:cNvSpPr/>
              <p:nvPr/>
            </p:nvSpPr>
            <p:spPr>
              <a:xfrm>
                <a:off x="1521000" y="3749400"/>
                <a:ext cx="9000" cy="536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eform 24"/>
              <p:cNvSpPr/>
              <p:nvPr/>
            </p:nvSpPr>
            <p:spPr>
              <a:xfrm>
                <a:off x="1655640" y="3938400"/>
                <a:ext cx="53640" cy="9000"/>
              </a:xfrm>
              <a:custGeom>
                <a:avLst/>
                <a:gdLst>
                  <a:gd name="textAreaLeft" fmla="*/ 0 w 53640"/>
                  <a:gd name="textAreaRight" fmla="*/ 54000 w 53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53975" h="9525">
                    <a:moveTo>
                      <a:pt x="539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eform 25"/>
              <p:cNvSpPr/>
              <p:nvPr/>
            </p:nvSpPr>
            <p:spPr>
              <a:xfrm>
                <a:off x="1655640" y="4046400"/>
                <a:ext cx="53640" cy="9000"/>
              </a:xfrm>
              <a:custGeom>
                <a:avLst/>
                <a:gdLst>
                  <a:gd name="textAreaLeft" fmla="*/ 0 w 53640"/>
                  <a:gd name="textAreaRight" fmla="*/ 54000 w 53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53975" h="9525">
                    <a:moveTo>
                      <a:pt x="5397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eform 26"/>
              <p:cNvSpPr/>
              <p:nvPr/>
            </p:nvSpPr>
            <p:spPr>
              <a:xfrm>
                <a:off x="1521000" y="4181040"/>
                <a:ext cx="9000" cy="536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9525" h="53975">
                    <a:moveTo>
                      <a:pt x="0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9" name="Freeform 27"/>
              <p:cNvSpPr/>
              <p:nvPr/>
            </p:nvSpPr>
            <p:spPr>
              <a:xfrm>
                <a:off x="1413000" y="4181040"/>
                <a:ext cx="9000" cy="536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9525" h="53975">
                    <a:moveTo>
                      <a:pt x="0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7cb7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0" name="TextBox 29"/>
            <p:cNvSpPr/>
            <p:nvPr/>
          </p:nvSpPr>
          <p:spPr>
            <a:xfrm>
              <a:off x="861480" y="4350240"/>
              <a:ext cx="1210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麒麟 </a:t>
              </a: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OS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TextBox 30"/>
            <p:cNvSpPr/>
            <p:nvPr/>
          </p:nvSpPr>
          <p:spPr>
            <a:xfrm>
              <a:off x="870120" y="4608360"/>
              <a:ext cx="1193040" cy="159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050" b="0" u="none" strike="noStrike">
                  <a:solidFill>
                    <a:srgbClr val="b9c6d8"/>
                  </a:solidFill>
                  <a:effectLst/>
                  <a:uFillTx/>
                  <a:latin typeface="Consolas"/>
                  <a:ea typeface="Consolas"/>
                </a:rPr>
                <a:t>LoongArch / V11</a:t>
              </a:r>
              <a:endPara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Rectangle 31"/>
            <p:cNvSpPr/>
            <p:nvPr/>
          </p:nvSpPr>
          <p:spPr>
            <a:xfrm>
              <a:off x="9810720" y="3497040"/>
              <a:ext cx="1847520" cy="1294920"/>
            </a:xfrm>
            <a:prstGeom prst="roundRect">
              <a:avLst>
                <a:gd name="adj" fmla="val 4412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custDash>
                <a:ds d="400000" sp="250000"/>
              </a:custDash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3" name="Group 37"/>
            <p:cNvGrpSpPr/>
            <p:nvPr/>
          </p:nvGrpSpPr>
          <p:grpSpPr>
            <a:xfrm>
              <a:off x="10464840" y="3741120"/>
              <a:ext cx="539280" cy="520560"/>
              <a:chOff x="10464840" y="3741120"/>
              <a:chExt cx="539280" cy="520560"/>
            </a:xfrm>
          </p:grpSpPr>
          <p:sp>
            <p:nvSpPr>
              <p:cNvPr id="674" name="Freeform 32"/>
              <p:cNvSpPr/>
              <p:nvPr/>
            </p:nvSpPr>
            <p:spPr>
              <a:xfrm>
                <a:off x="10491840" y="4208040"/>
                <a:ext cx="188640" cy="900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188912" h="9525">
                    <a:moveTo>
                      <a:pt x="0" y="0"/>
                    </a:moveTo>
                    <a:lnTo>
                      <a:pt x="188912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eform 33"/>
              <p:cNvSpPr/>
              <p:nvPr/>
            </p:nvSpPr>
            <p:spPr>
              <a:xfrm>
                <a:off x="10788480" y="4208040"/>
                <a:ext cx="188640" cy="9000"/>
              </a:xfrm>
              <a:custGeom>
                <a:avLst/>
                <a:gdLst>
                  <a:gd name="textAreaLeft" fmla="*/ 0 w 188640"/>
                  <a:gd name="textAreaRight" fmla="*/ 189000 w 18864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188912" h="9525">
                    <a:moveTo>
                      <a:pt x="0" y="0"/>
                    </a:moveTo>
                    <a:lnTo>
                      <a:pt x="188912" y="0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eform 34"/>
              <p:cNvSpPr/>
              <p:nvPr/>
            </p:nvSpPr>
            <p:spPr>
              <a:xfrm>
                <a:off x="10680840" y="4154040"/>
                <a:ext cx="107640" cy="107640"/>
              </a:xfrm>
              <a:custGeom>
                <a:avLst/>
                <a:gdLst>
                  <a:gd name="textAreaLeft" fmla="*/ 0 w 107640"/>
                  <a:gd name="textAreaRight" fmla="*/ 108000 w 107640"/>
                  <a:gd name="textAreaTop" fmla="*/ 0 h 107640"/>
                  <a:gd name="textAreaBottom" fmla="*/ 108000 h 107640"/>
                </a:gdLst>
                <a:ahLst/>
                <a:cxnLst/>
                <a:rect l="textAreaLeft" t="textAreaTop" r="textAreaRight" b="textAreaBottom"/>
                <a:pathLst>
                  <a:path w="107950" h="107950">
                    <a:moveTo>
                      <a:pt x="0" y="53975"/>
                    </a:moveTo>
                    <a:cubicBezTo>
                      <a:pt x="0" y="83784"/>
                      <a:pt x="24165" y="107950"/>
                      <a:pt x="53975" y="107950"/>
                    </a:cubicBezTo>
                    <a:cubicBezTo>
                      <a:pt x="83784" y="107950"/>
                      <a:pt x="107950" y="83784"/>
                      <a:pt x="107950" y="53975"/>
                    </a:cubicBezTo>
                    <a:cubicBezTo>
                      <a:pt x="107950" y="24165"/>
                      <a:pt x="83784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eform 35"/>
              <p:cNvSpPr/>
              <p:nvPr/>
            </p:nvSpPr>
            <p:spPr>
              <a:xfrm>
                <a:off x="10734840" y="4100040"/>
                <a:ext cx="9000" cy="53640"/>
              </a:xfrm>
              <a:custGeom>
                <a:avLst/>
                <a:gdLst>
                  <a:gd name="textAreaLeft" fmla="*/ 0 w 9000"/>
                  <a:gd name="textAreaRight" fmla="*/ 9360 w 9000"/>
                  <a:gd name="textAreaTop" fmla="*/ 0 h 53640"/>
                  <a:gd name="textAreaBottom" fmla="*/ 54000 h 53640"/>
                </a:gdLst>
                <a:ahLst/>
                <a:cxnLst/>
                <a:rect l="textAreaLeft" t="textAreaTop" r="textAreaRight" b="textAreaBottom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000" bIns="9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eform 36"/>
              <p:cNvSpPr/>
              <p:nvPr/>
            </p:nvSpPr>
            <p:spPr>
              <a:xfrm>
                <a:off x="10464840" y="3741120"/>
                <a:ext cx="539280" cy="358920"/>
              </a:xfrm>
              <a:custGeom>
                <a:avLst/>
                <a:gdLst>
                  <a:gd name="textAreaLeft" fmla="*/ 0 w 539280"/>
                  <a:gd name="textAreaRight" fmla="*/ 539640 w 539280"/>
                  <a:gd name="textAreaTop" fmla="*/ 0 h 358920"/>
                  <a:gd name="textAreaBottom" fmla="*/ 359280 h 358920"/>
                </a:gdLst>
                <a:ahLst/>
                <a:cxnLst/>
                <a:rect l="textAreaLeft" t="textAreaTop" r="textAreaRight" b="textAreaBottom"/>
                <a:pathLst>
                  <a:path w="539749" h="359311">
                    <a:moveTo>
                      <a:pt x="161925" y="359311"/>
                    </a:moveTo>
                    <a:lnTo>
                      <a:pt x="125681" y="359311"/>
                    </a:lnTo>
                    <a:cubicBezTo>
                      <a:pt x="56269" y="359203"/>
                      <a:pt x="0" y="305039"/>
                      <a:pt x="0" y="238218"/>
                    </a:cubicBezTo>
                    <a:cubicBezTo>
                      <a:pt x="0" y="171424"/>
                      <a:pt x="56269" y="117261"/>
                      <a:pt x="125681" y="117261"/>
                    </a:cubicBezTo>
                    <a:cubicBezTo>
                      <a:pt x="136287" y="69709"/>
                      <a:pt x="174096" y="30901"/>
                      <a:pt x="224860" y="15437"/>
                    </a:cubicBezTo>
                    <a:cubicBezTo>
                      <a:pt x="275596" y="0"/>
                      <a:pt x="331622" y="10228"/>
                      <a:pt x="371779" y="42424"/>
                    </a:cubicBezTo>
                    <a:cubicBezTo>
                      <a:pt x="411937" y="74539"/>
                      <a:pt x="430126" y="123576"/>
                      <a:pt x="419547" y="171128"/>
                    </a:cubicBezTo>
                    <a:lnTo>
                      <a:pt x="446265" y="171128"/>
                    </a:lnTo>
                    <a:cubicBezTo>
                      <a:pt x="497892" y="171128"/>
                      <a:pt x="539749" y="213228"/>
                      <a:pt x="539749" y="265206"/>
                    </a:cubicBezTo>
                    <a:cubicBezTo>
                      <a:pt x="539749" y="317211"/>
                      <a:pt x="497892" y="359311"/>
                      <a:pt x="446238" y="359311"/>
                    </a:cubicBezTo>
                    <a:lnTo>
                      <a:pt x="377825" y="359311"/>
                    </a:lnTo>
                  </a:path>
                </a:pathLst>
              </a:custGeom>
              <a:noFill/>
              <a:ln w="19050">
                <a:solidFill>
                  <a:srgbClr val="5fe0c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TextBox 38"/>
            <p:cNvSpPr/>
            <p:nvPr/>
          </p:nvSpPr>
          <p:spPr>
            <a:xfrm>
              <a:off x="9977760" y="4312440"/>
              <a:ext cx="151344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5f7fa"/>
                  </a:solidFill>
                  <a:effectLst/>
                  <a:uFillTx/>
                  <a:latin typeface="Consolas"/>
                  <a:ea typeface="Consolas"/>
                </a:rPr>
                <a:t>Cloud MCP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TextBox 39"/>
            <p:cNvSpPr/>
            <p:nvPr/>
          </p:nvSpPr>
          <p:spPr>
            <a:xfrm>
              <a:off x="10170720" y="4608360"/>
              <a:ext cx="1127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9c6d8"/>
                  </a:solidFill>
                  <a:effectLst/>
                  <a:uFillTx/>
                  <a:latin typeface="Arial"/>
                  <a:ea typeface="Microsoft YaHei"/>
                </a:rPr>
                <a:t>扩展接入位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1" name="Group 44"/>
          <p:cNvGrpSpPr/>
          <p:nvPr/>
        </p:nvGrpSpPr>
        <p:grpSpPr>
          <a:xfrm>
            <a:off x="533520" y="2133720"/>
            <a:ext cx="2476080" cy="685440"/>
            <a:chOff x="533520" y="2133720"/>
            <a:chExt cx="2476080" cy="685440"/>
          </a:xfrm>
        </p:grpSpPr>
        <p:sp>
          <p:nvSpPr>
            <p:cNvPr id="682" name="Rectangle 41"/>
            <p:cNvSpPr/>
            <p:nvPr/>
          </p:nvSpPr>
          <p:spPr>
            <a:xfrm>
              <a:off x="533520" y="2133720"/>
              <a:ext cx="2476080" cy="685440"/>
            </a:xfrm>
            <a:prstGeom prst="roundRect">
              <a:avLst>
                <a:gd name="adj" fmla="val 5556"/>
              </a:avLst>
            </a:prstGeom>
            <a:solidFill>
              <a:srgbClr val="132238"/>
            </a:solidFill>
            <a:ln w="19050">
              <a:solidFill>
                <a:srgbClr val="3551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3" name="TextBox 42"/>
            <p:cNvSpPr/>
            <p:nvPr/>
          </p:nvSpPr>
          <p:spPr>
            <a:xfrm>
              <a:off x="714600" y="222516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可用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4" name="TextBox 43"/>
            <p:cNvSpPr/>
            <p:nvPr/>
          </p:nvSpPr>
          <p:spPr>
            <a:xfrm>
              <a:off x="714600" y="2558520"/>
              <a:ext cx="2179800" cy="244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18 </a:t>
              </a:r>
              <a:r>
                <a:rPr lang="zh-CN" sz="16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个业务工具 </a:t>
              </a:r>
              <a:r>
                <a:rPr lang="en-US" sz="16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+ ReAct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5" name="Group 48"/>
          <p:cNvGrpSpPr/>
          <p:nvPr/>
        </p:nvGrpSpPr>
        <p:grpSpPr>
          <a:xfrm>
            <a:off x="3333600" y="2133720"/>
            <a:ext cx="2918520" cy="776520"/>
            <a:chOff x="3333600" y="2133720"/>
            <a:chExt cx="2918520" cy="776520"/>
          </a:xfrm>
        </p:grpSpPr>
        <p:sp>
          <p:nvSpPr>
            <p:cNvPr id="686" name="Rectangle 45"/>
            <p:cNvSpPr/>
            <p:nvPr/>
          </p:nvSpPr>
          <p:spPr>
            <a:xfrm>
              <a:off x="3333600" y="2133720"/>
              <a:ext cx="2476080" cy="685440"/>
            </a:xfrm>
            <a:prstGeom prst="roundRect">
              <a:avLst>
                <a:gd name="adj" fmla="val 5556"/>
              </a:avLst>
            </a:prstGeom>
            <a:solidFill>
              <a:srgbClr val="132238"/>
            </a:solidFill>
            <a:ln w="19050">
              <a:solidFill>
                <a:srgbClr val="ffb8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TextBox 46"/>
            <p:cNvSpPr/>
            <p:nvPr/>
          </p:nvSpPr>
          <p:spPr>
            <a:xfrm>
              <a:off x="3515040" y="222516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fb84d"/>
                  </a:solidFill>
                  <a:effectLst/>
                  <a:uFillTx/>
                  <a:latin typeface="Arial"/>
                  <a:ea typeface="Microsoft YaHei"/>
                </a:rPr>
                <a:t>可控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TextBox 47"/>
            <p:cNvSpPr/>
            <p:nvPr/>
          </p:nvSpPr>
          <p:spPr>
            <a:xfrm>
              <a:off x="3515040" y="2558520"/>
              <a:ext cx="2737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动态分类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+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六道护栏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89" name="Group 52"/>
          <p:cNvGrpSpPr/>
          <p:nvPr/>
        </p:nvGrpSpPr>
        <p:grpSpPr>
          <a:xfrm>
            <a:off x="6381720" y="2133720"/>
            <a:ext cx="2903760" cy="776520"/>
            <a:chOff x="6381720" y="2133720"/>
            <a:chExt cx="2903760" cy="776520"/>
          </a:xfrm>
        </p:grpSpPr>
        <p:sp>
          <p:nvSpPr>
            <p:cNvPr id="690" name="Rectangle 49"/>
            <p:cNvSpPr/>
            <p:nvPr/>
          </p:nvSpPr>
          <p:spPr>
            <a:xfrm>
              <a:off x="6381720" y="2133720"/>
              <a:ext cx="2476080" cy="685440"/>
            </a:xfrm>
            <a:prstGeom prst="roundRect">
              <a:avLst>
                <a:gd name="adj" fmla="val 5556"/>
              </a:avLst>
            </a:prstGeom>
            <a:solidFill>
              <a:srgbClr val="132238"/>
            </a:solidFill>
            <a:ln w="19050">
              <a:solidFill>
                <a:srgbClr val="5fe0c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TextBox 50"/>
            <p:cNvSpPr/>
            <p:nvPr/>
          </p:nvSpPr>
          <p:spPr>
            <a:xfrm>
              <a:off x="6563160" y="2225160"/>
              <a:ext cx="6418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5fe0c1"/>
                  </a:solidFill>
                  <a:effectLst/>
                  <a:uFillTx/>
                  <a:latin typeface="Arial"/>
                  <a:ea typeface="Microsoft YaHei"/>
                </a:rPr>
                <a:t>可信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2" name="TextBox 51"/>
            <p:cNvSpPr/>
            <p:nvPr/>
          </p:nvSpPr>
          <p:spPr>
            <a:xfrm>
              <a:off x="6563160" y="2558520"/>
              <a:ext cx="27223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813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测试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+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审计恢复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3" name="Group 56"/>
          <p:cNvGrpSpPr/>
          <p:nvPr/>
        </p:nvGrpSpPr>
        <p:grpSpPr>
          <a:xfrm>
            <a:off x="9182160" y="2133720"/>
            <a:ext cx="2962440" cy="776520"/>
            <a:chOff x="9182160" y="2133720"/>
            <a:chExt cx="2962440" cy="776520"/>
          </a:xfrm>
        </p:grpSpPr>
        <p:sp>
          <p:nvSpPr>
            <p:cNvPr id="694" name="Rectangle 53"/>
            <p:cNvSpPr/>
            <p:nvPr/>
          </p:nvSpPr>
          <p:spPr>
            <a:xfrm>
              <a:off x="9182160" y="2133720"/>
              <a:ext cx="2476080" cy="685440"/>
            </a:xfrm>
            <a:prstGeom prst="roundRect">
              <a:avLst>
                <a:gd name="adj" fmla="val 5556"/>
              </a:avLst>
            </a:prstGeom>
            <a:solidFill>
              <a:srgbClr val="132238"/>
            </a:solidFill>
            <a:ln w="19050">
              <a:solidFill>
                <a:srgbClr val="7cb7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TextBox 54"/>
            <p:cNvSpPr/>
            <p:nvPr/>
          </p:nvSpPr>
          <p:spPr>
            <a:xfrm>
              <a:off x="9363600" y="2225160"/>
              <a:ext cx="954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7cb7ff"/>
                  </a:solidFill>
                  <a:effectLst/>
                  <a:uFillTx/>
                  <a:latin typeface="Arial"/>
                  <a:ea typeface="Microsoft YaHei"/>
                </a:rPr>
                <a:t>可扩展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TextBox 55"/>
            <p:cNvSpPr/>
            <p:nvPr/>
          </p:nvSpPr>
          <p:spPr>
            <a:xfrm>
              <a:off x="9363600" y="2558520"/>
              <a:ext cx="2781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多 </a:t>
              </a: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MCP Server </a:t>
              </a:r>
              <a:r>
                <a:rPr lang="zh-CN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Microsoft YaHei"/>
                </a:rPr>
                <a:t>路由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7" name="Group 69"/>
          <p:cNvGrpSpPr/>
          <p:nvPr/>
        </p:nvGrpSpPr>
        <p:grpSpPr>
          <a:xfrm>
            <a:off x="524160" y="6176880"/>
            <a:ext cx="11140920" cy="351720"/>
            <a:chOff x="524160" y="6176880"/>
            <a:chExt cx="11140920" cy="351720"/>
          </a:xfrm>
        </p:grpSpPr>
        <p:sp>
          <p:nvSpPr>
            <p:cNvPr id="698" name="TextBox 67"/>
            <p:cNvSpPr/>
            <p:nvPr/>
          </p:nvSpPr>
          <p:spPr>
            <a:xfrm>
              <a:off x="524160" y="6176880"/>
              <a:ext cx="60156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0" u="none" strike="noStrike">
                  <a:solidFill>
                    <a:srgbClr val="f5f7fa"/>
                  </a:solidFill>
                  <a:effectLst/>
                  <a:uFillTx/>
                  <a:latin typeface="Arial"/>
                  <a:ea typeface="Arial"/>
                </a:rPr>
                <a:t>Q&amp;A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TextBox 68"/>
            <p:cNvSpPr/>
            <p:nvPr/>
          </p:nvSpPr>
          <p:spPr>
            <a:xfrm>
              <a:off x="10905120" y="6225480"/>
              <a:ext cx="759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 anchorCtr="1">
              <a:spAutoFit/>
            </a:bodyPr>
            <a:p>
              <a:pPr algn="r"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rgbClr val="7f91aa"/>
                  </a:solidFill>
                  <a:effectLst/>
                  <a:uFillTx/>
                  <a:latin typeface="Consolas"/>
                  <a:ea typeface="Consolas"/>
                </a:rPr>
                <a:t>10 / 10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LibreOffice/25.8.7.3$Linux_X86_64 LibreOffice_project/a26b9a50e66725c984547fe0389e2687ecedaa0c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2026-07-17T15:18:54Z</dcterms:created>
  <dc:creator/>
  <dc:description/>
  <dc:language>zh-CN</dc:language>
  <cp:lastModifiedBy/>
  <dcterms:modified xsi:type="dcterms:W3CDTF">2026-07-18T10:13:59Z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10</vt:i4>
  </property>
</Properties>
</file>